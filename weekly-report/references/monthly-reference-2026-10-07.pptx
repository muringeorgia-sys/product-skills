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1" r:id="rId3"/>
    <p:sldId id="279" r:id="rId4"/>
    <p:sldId id="262" r:id="rId5"/>
    <p:sldId id="257" r:id="rId6"/>
    <p:sldId id="282" r:id="rId7"/>
    <p:sldId id="283" r:id="rId8"/>
    <p:sldId id="258" r:id="rId9"/>
    <p:sldId id="259" r:id="rId10"/>
    <p:sldId id="260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плана, %</c:v>
                </c:pt>
              </c:strCache>
            </c:strRef>
          </c:tx>
          <c:spPr>
            <a:solidFill>
              <a:srgbClr val="C84D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94-409E-9E96-8B98979DC38A}"/>
              </c:ext>
            </c:extLst>
          </c:dPt>
          <c:dPt>
            <c:idx val="1"/>
            <c:invertIfNegative val="0"/>
            <c:bubble3D val="0"/>
            <c:spPr>
              <a:solidFill>
                <a:srgbClr val="315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94-409E-9E96-8B98979DC38A}"/>
              </c:ext>
            </c:extLst>
          </c:dPt>
          <c:dPt>
            <c:idx val="2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94-409E-9E96-8B98979DC38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894-409E-9E96-8B98979DC38A}"/>
              </c:ext>
            </c:extLst>
          </c:dPt>
          <c:dPt>
            <c:idx val="4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894-409E-9E96-8B98979DC38A}"/>
              </c:ext>
            </c:extLst>
          </c:dPt>
          <c:dPt>
            <c:idx val="5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894-409E-9E96-8B98979DC38A}"/>
              </c:ext>
            </c:extLst>
          </c:dPt>
          <c:dPt>
            <c:idx val="6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894-409E-9E96-8B98979DC38A}"/>
              </c:ext>
            </c:extLst>
          </c:dPt>
          <c:dPt>
            <c:idx val="7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894-409E-9E96-8B98979DC38A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Страхование</c:v>
                </c:pt>
                <c:pt idx="1">
                  <c:v>Лизинг</c:v>
                </c:pt>
                <c:pt idx="2">
                  <c:v>Кредиты MBANK</c:v>
                </c:pt>
                <c:pt idx="3">
                  <c:v>Отчёты</c:v>
                </c:pt>
                <c:pt idx="4">
                  <c:v>Публикации</c:v>
                </c:pt>
                <c:pt idx="5">
                  <c:v>Бизнес аккаунты</c:v>
                </c:pt>
                <c:pt idx="6">
                  <c:v>Промо</c:v>
                </c:pt>
                <c:pt idx="7">
                  <c:v>Выручка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2">
                  <c:v>185</c:v>
                </c:pt>
                <c:pt idx="3">
                  <c:v>63</c:v>
                </c:pt>
                <c:pt idx="4">
                  <c:v>115</c:v>
                </c:pt>
                <c:pt idx="5">
                  <c:v>115</c:v>
                </c:pt>
                <c:pt idx="6">
                  <c:v>115</c:v>
                </c:pt>
                <c:pt idx="7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894-409E-9E96-8B98979DC3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Прогнозное выполнение плана, %</c:v>
                </c:pt>
              </c:strCache>
            </c:strRef>
          </c:tx>
          <c:spPr>
            <a:solidFill>
              <a:srgbClr val="C84D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D8-41FF-BD66-66E3AD1A8A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4D8-41FF-BD66-66E3AD1A8A85}"/>
              </c:ext>
            </c:extLst>
          </c:dPt>
          <c:dPt>
            <c:idx val="2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D8-41FF-BD66-66E3AD1A8A8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4D8-41FF-BD66-66E3AD1A8A85}"/>
              </c:ext>
            </c:extLst>
          </c:dPt>
          <c:dPt>
            <c:idx val="4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4D8-41FF-BD66-66E3AD1A8A85}"/>
              </c:ext>
            </c:extLst>
          </c:dPt>
          <c:dPt>
            <c:idx val="5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4D8-41FF-BD66-66E3AD1A8A85}"/>
              </c:ext>
            </c:extLst>
          </c:dPt>
          <c:dPt>
            <c:idx val="6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4D8-41FF-BD66-66E3AD1A8A85}"/>
              </c:ext>
            </c:extLst>
          </c:dPt>
          <c:dPt>
            <c:idx val="7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4D8-41FF-BD66-66E3AD1A8A8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Страхование</c:v>
                </c:pt>
                <c:pt idx="1">
                  <c:v>Лизинг</c:v>
                </c:pt>
                <c:pt idx="2">
                  <c:v>Кредиты MBANK</c:v>
                </c:pt>
                <c:pt idx="3">
                  <c:v>Отчёты</c:v>
                </c:pt>
                <c:pt idx="4">
                  <c:v>Публикации</c:v>
                </c:pt>
                <c:pt idx="5">
                  <c:v>Бизнес аккаунты</c:v>
                </c:pt>
                <c:pt idx="6">
                  <c:v>Промо</c:v>
                </c:pt>
                <c:pt idx="7">
                  <c:v>Выручка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37</c:v>
                </c:pt>
                <c:pt idx="2">
                  <c:v>123</c:v>
                </c:pt>
                <c:pt idx="3">
                  <c:v>65</c:v>
                </c:pt>
                <c:pt idx="4">
                  <c:v>113</c:v>
                </c:pt>
                <c:pt idx="5">
                  <c:v>113</c:v>
                </c:pt>
                <c:pt idx="6">
                  <c:v>113</c:v>
                </c:pt>
                <c:pt idx="7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4D8-41FF-BD66-66E3AD1A8A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Прогнозное выполнение плана, %</c:v>
                </c:pt>
              </c:strCache>
            </c:strRef>
          </c:tx>
          <c:spPr>
            <a:solidFill>
              <a:srgbClr val="C84D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31F-4D6A-9B49-FF88DBC2365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31F-4D6A-9B49-FF88DBC2365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31F-4D6A-9B49-FF88DBC2365B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Регистрации</c:v>
                </c:pt>
                <c:pt idx="1">
                  <c:v>Пополнения, сом</c:v>
                </c:pt>
                <c:pt idx="2">
                  <c:v>Новые объявления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82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1F-4D6A-9B49-FF88DBC236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 к сентябрю, %</c:v>
                </c:pt>
              </c:strCache>
            </c:strRef>
          </c:tx>
          <c:spPr>
            <a:solidFill>
              <a:srgbClr val="2F8A6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53-428F-ACA3-E3F9C9BEFE1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753-428F-ACA3-E3F9C9BEFE1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753-428F-ACA3-E3F9C9BEFE1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753-428F-ACA3-E3F9C9BEFE1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753-428F-ACA3-E3F9C9BEFE1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753-428F-ACA3-E3F9C9BEFE1B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Регистрация → пополнение, %</c:v>
                </c:pt>
                <c:pt idx="1">
                  <c:v>Удержание, %</c:v>
                </c:pt>
                <c:pt idx="2">
                  <c:v>— вернувшиеся</c:v>
                </c:pt>
                <c:pt idx="3">
                  <c:v>— новые</c:v>
                </c:pt>
                <c:pt idx="4">
                  <c:v>— удержанные</c:v>
                </c:pt>
                <c:pt idx="5">
                  <c:v>MDAU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122</c:v>
                </c:pt>
                <c:pt idx="1">
                  <c:v>116</c:v>
                </c:pt>
                <c:pt idx="2">
                  <c:v>105</c:v>
                </c:pt>
                <c:pt idx="3">
                  <c:v>105</c:v>
                </c:pt>
                <c:pt idx="4">
                  <c:v>110</c:v>
                </c:pt>
                <c:pt idx="5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753-428F-ACA3-E3F9C9BEFE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05.10 к 30.09, %</c:v>
                </c:pt>
              </c:strCache>
            </c:strRef>
          </c:tx>
          <c:spPr>
            <a:solidFill>
              <a:srgbClr val="315B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3FB-4F7D-9D4A-BDAFD5B61D5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3FB-4F7D-9D4A-BDAFD5B61D5E}"/>
              </c:ext>
            </c:extLst>
          </c:dPt>
          <c:dPt>
            <c:idx val="2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FB-4F7D-9D4A-BDAFD5B61D5E}"/>
              </c:ext>
            </c:extLst>
          </c:dPt>
          <c:dPt>
            <c:idx val="3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3FB-4F7D-9D4A-BDAFD5B61D5E}"/>
              </c:ext>
            </c:extLst>
          </c:dPt>
          <c:dPt>
            <c:idx val="4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3FB-4F7D-9D4A-BDAFD5B61D5E}"/>
              </c:ext>
            </c:extLst>
          </c:dPt>
          <c:dPt>
            <c:idx val="5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3FB-4F7D-9D4A-BDAFD5B61D5E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Объявлений на дилера</c:v>
                </c:pt>
                <c:pt idx="1">
                  <c:v>Объявлений на частника</c:v>
                </c:pt>
                <c:pt idx="2">
                  <c:v>Продавцы-дилеры</c:v>
                </c:pt>
                <c:pt idx="3">
                  <c:v>Продавцы-частники</c:v>
                </c:pt>
                <c:pt idx="4">
                  <c:v>Объявления дилеров</c:v>
                </c:pt>
                <c:pt idx="5">
                  <c:v>Объявления частников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100</c:v>
                </c:pt>
                <c:pt idx="2">
                  <c:v>102</c:v>
                </c:pt>
                <c:pt idx="3">
                  <c:v>101</c:v>
                </c:pt>
                <c:pt idx="4">
                  <c:v>101</c:v>
                </c:pt>
                <c:pt idx="5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3FB-4F7D-9D4A-BDAFD5B61D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9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05.10 к 30.09, %</c:v>
                </c:pt>
              </c:strCache>
            </c:strRef>
          </c:tx>
          <c:spPr>
            <a:solidFill>
              <a:srgbClr val="315B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41-4B58-856A-D1762B389C0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D41-4B58-856A-D1762B389C04}"/>
              </c:ext>
            </c:extLst>
          </c:dPt>
          <c:dPt>
            <c:idx val="2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41-4B58-856A-D1762B389C0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D41-4B58-856A-D1762B389C04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P80 объявлений на частника</c:v>
                </c:pt>
                <c:pt idx="1">
                  <c:v>P80 объявлений на дилера</c:v>
                </c:pt>
                <c:pt idx="2">
                  <c:v>Доля объявлений старше 90 дней</c:v>
                </c:pt>
                <c:pt idx="3">
                  <c:v>Медианный возраст, дней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102</c:v>
                </c:pt>
                <c:pt idx="3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D41-4B58-856A-D1762B389C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9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Изменение к текущему уровню, %</c:v>
                </c:pt>
              </c:strCache>
            </c:strRef>
          </c:tx>
          <c:spPr>
            <a:solidFill>
              <a:srgbClr val="2F8A6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48E-41BE-BEFD-096E190CD364}"/>
              </c:ext>
            </c:extLst>
          </c:dPt>
          <c:dPt>
            <c:idx val="1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8E-41BE-BEFD-096E190CD364}"/>
              </c:ext>
            </c:extLst>
          </c:dPt>
          <c:dPt>
            <c:idx val="2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8E-41BE-BEFD-096E190CD36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48E-41BE-BEFD-096E190CD36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48E-41BE-BEFD-096E190CD36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48E-41BE-BEFD-096E190CD364}"/>
              </c:ext>
            </c:extLst>
          </c:dPt>
          <c:dPt>
            <c:idx val="6"/>
            <c:invertIfNegative val="0"/>
            <c:bubble3D val="0"/>
            <c:spPr>
              <a:solidFill>
                <a:srgbClr val="315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48E-41BE-BEFD-096E190CD364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F48E-41BE-BEFD-096E190CD364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F48E-41BE-BEFD-096E190CD364}"/>
              </c:ext>
            </c:extLst>
          </c:dPt>
          <c:dPt>
            <c:idx val="9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48E-41BE-BEFD-096E190CD364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F48E-41BE-BEFD-096E190CD364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F48E-41BE-BEFD-096E190CD364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Вернувшиеся</c:v>
                </c:pt>
                <c:pt idx="1">
                  <c:v>Новых объявлений</c:v>
                </c:pt>
                <c:pt idx="2">
                  <c:v>Выручка на дилера, сом</c:v>
                </c:pt>
                <c:pt idx="3">
                  <c:v>Платящие дилеры</c:v>
                </c:pt>
                <c:pt idx="4">
                  <c:v>Удержание пополняющих</c:v>
                </c:pt>
                <c:pt idx="5">
                  <c:v>MPAU</c:v>
                </c:pt>
                <c:pt idx="6">
                  <c:v>Регистраций</c:v>
                </c:pt>
                <c:pt idx="7">
                  <c:v>Регистрация → пополнение</c:v>
                </c:pt>
                <c:pt idx="8">
                  <c:v>Пополняющие</c:v>
                </c:pt>
                <c:pt idx="9">
                  <c:v>Средний депозит, сом</c:v>
                </c:pt>
                <c:pt idx="10">
                  <c:v>Пополнения, сом</c:v>
                </c:pt>
                <c:pt idx="11">
                  <c:v>Выручка, сом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-1</c:v>
                </c:pt>
                <c:pt idx="2">
                  <c:v>-7</c:v>
                </c:pt>
                <c:pt idx="3">
                  <c:v>8</c:v>
                </c:pt>
                <c:pt idx="4">
                  <c:v>5</c:v>
                </c:pt>
                <c:pt idx="5">
                  <c:v>12</c:v>
                </c:pt>
                <c:pt idx="6">
                  <c:v>0</c:v>
                </c:pt>
                <c:pt idx="7">
                  <c:v>10</c:v>
                </c:pt>
                <c:pt idx="8">
                  <c:v>8</c:v>
                </c:pt>
                <c:pt idx="9">
                  <c:v>-3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48E-41BE-BEFD-096E190CD3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-1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138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Сентябрь: закрытый факт 1–30.09 и полный месячный план. Октябрь: план месяца и прогноз на 31.10; финансовый источник — скрин пользователя на 05.10, остальные метрики — существующие выгрузки за 1–5.10. Годовой базис — скрин пользователя от 06.10. Источники сохранены в S06_24.09-07.10/данные/financial_screenshots_2026-10-06.json. Спринты, ключевые фичи и лизинг сохранены из исходной презентации без нового сбора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финансовые скрины от 06.10.2026 (годовой P&amp;L, сентябрь, октябрь на 05.10); Redash, дашборд 78 «Декомпозиция выручки», запрос 621.
Выручка Mashina.kg по всем направлениям: промо, бизнес-аккаунты (тарифы), публикации, отчёты, кредиты MBANK, лизинг, страхование. Январь–август — годовой скрин P&amp;L, сентябрь — финансовый скрин, предварительно, до закрытия в RE. Октябрь: факт 1–5.10 и прогноз месяца из финансового скрина. Ноябрь–декабрь — прогноз модели RE с годового скрина.
Столбик: направления classified — списания (янв–авг — Redash 621, сентябрь–октябрь — финансовый скрин), кредиты, лизинг и страхование — строки P&amp;L, и разница пополнений и списаний. Во всех месяцах списали больше, чем пополнили: разница отрицательная и показана ниже оси. Подпись над столбиком — выручка месяца, млн сом. Факта лизинга за сентябрь и 1–5.10 в скринах нет.
План по всем направлениям есть с сентября (финансовые скрины и годовой P&amp;L). Плана кредитов, лизинга и страхования за январь–август в материалах нет, поэтому столбики плана показаны только за сентябрь–декабрь, а вместо годового плана — ориентир P&amp;L: факт января–августа плюс базовый прогноз сентября–декабря, 87 943 268.
Карточки. Факт 1–5.10: 1 277 479; план на 5 дней 1 508 064 (9 349 996 × 5 / 31). Прогноз октября 8 773 460, сентябрь 9 681 450. План октября 9 349 996. Факт с начала года 60 336 641. Прирост января — к пополнениям декабря 2025 из Redash 618 (5 371 429).
Отклонение прогноза октября от плана: -576 536 сом. Classified -747 916 (прогноз 5 582 084 при плане 6 330 000), кредиты +557 942 (прогноз 2 986 056 при плане 2 428 114), лизинг -338 163, страхование -45 926.
По месяцам, сом (выручка / промо / тарифы / публикации / отчёты / кредиты / лизинг / страхование / разница):
Янв: 5 186 651 / 3 544 540 / 767 310 / 444 980 / 578 520 / 0 / 0 / 0 / -148 699
Фев: 5 047 527 / 3 651 030 / 625 098 / 421 200 / 407 856 / 0 / 0 / 0 / -57 657
Мар: 6 341 517 / 4 302 860 / 975 540 / 473 510 / 481 536 / 245 640 / 0 / 0 / -137 569
Апр: 6 024 594 / 4 152 359 / 998 070 / 449 190 / 411 084 / 179 615 / 0 / 0 / -165 724
Май: 4 679 076 / 3 022 776 / 898 900 / 378 820 / 214 516 / 580 481 / 0 / 0 / -416 417
Июн: 5 972 882 / 2 901 498 / 614 160 / 325 860 / 221 514 / 2 125 945 / 0 / 6 596 / -222 691
Июл: 8 052 420 / 3 352 670 / 797 440 / 272 720 / 275 980 / 3 308 038 / 52 261 / 17 623 / -24 312
Авг: 8 073 045 / 4 273 613 / 799 827 / 245 060 / 248 084 / 2 855 446 / 11 600 / 6 925 / -367 510
Сен: 9 681 450 / 5 410 808 / 710 355 / 277 820 / 288 062 / 4 265 795 / 0 / 3 547 / -1 274 937
Окт, факт 1–5.10: 1 277 479 / 980 828 / 142 993 / 40 200 / 32 232 / 444 091 / 0 / 0 / -362 865
Окт, прогноз: 8 773 460 / 5 544 524 / 716 427 / 289 788 / 332 911 / 2 986 056 / 200 000 / 5 320 / -1 301 566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41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Отчёт по выручке «Сравнение с планом/прогнозом» за сентябрь, блок Mashina.kg
Все числа — из отчёта по выручке «Сравнение с планом/прогнозом» за сентябрь 2026, блок Mashina.kg, колонки «Факт» и «План» (факт закрытого сентября, выполнение плана = факт / план).
Выручка: факт 9 681 450 при плане 8 828 336 — выполнение 109,7%, +853 114 к плану. К августу (8 056 815) +1 624 635 (+20%).
Промо 5 410 808 при 4 689 899 (115,4%); бизнес-аккаунты 710 355 при 615 711 (115,4%), к августу −89 472 (−11%); публикации 277 820 при 240 805 (115,4%); отчёты 288 062 при 458 461 (62,8%); кредиты MBANK 4 265 795 при 2 312 490 (184,5%); страхование 3 547 при 29 273 (12,1%).
Лизинг: факта в отчёте нет, план 481 698; в августе 11 600 сом.
Строка «Разница CashIn/CashOut» −1 274 937 сом (в августе −385 681) на слайд не выводится: у неё нет плана. Это разрыв между пополнениями и тратами — часть покупок оплачена деньгами, которые уже лежали на балансе, и бонусами.
Сверка с Redash: промо 5 410 808, публикации 277 820 и отчёты 288 062 совпадают со списаниями в transactions до сома; бизнес-аккаунты в transactions — 692 985 (на 17 370 меньше, чем в отчёте по выручке).
Основной источник: финансовый скрин пользователя за 1–30 сентября, сохранённый в S06_24.09-07.10\данные\Выручка_сентябрь-2026_2026-10-06.jpg. Строка лизинга не показана: в скрине факт отсутствует. Нулевой факт не подставлялся.
Лизинг: факта за сентябрь в финансовом скрине нет, показан план 481 698 и прочерк.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7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Финансовый скрин пользователя «Сравнение с планом/прогнозом» на 05.10.2026, блок Mashina.kg
Прогноз берётся из скрина без линейного пересчёта. План — полный месяц, не «план на дату». Прогнозное выполнение = прогноз / план. Факт 1–5.10 сохранён в данных и заметках, на этом слайде показаны только план и прогноз.
Выручка: факт 1 277 479, прогноз 8 773 460, план 9 349 996.
Промо: факт 980 828, прогноз 5 544 524, план 4 929 191.
Бизнес аккаунты: факт 142 993, прогноз 716 427, план 636 917.
Публикации: факт 40 200, прогноз 289 788, план 257 627.
Отчёты: факт 32 232, прогноз 332 911, план 508 737.
Разница CashIn/CashOut: факт -362 865, прогноз -1 301 566, план не указан.
Кредиты MBANK: факт 444 091, прогноз 2 986 056, план 2 428 114.
Лизинг: факт не указан, прогноз 200 000, план 538 163.
Страхование: факт не указан, прогноз 5 320, план 51 246.
Сверка: сумма прогнозов направлений 10 075 026, минус разница CashIn/CashOut 1 301 566 = 8 773 460. Разница CashIn/CashOut не показана отдельной строкой, поскольку у неё нет плана. Источник: S06_24.09-07.10\данные\Выручка_октябрь-2026_на-05.10.jpg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Redash, дашборд 78 «Декомпозиция выручки», запросы 618, 619, 621; финансовые скрины от 06.10.2026; план — мануал «Продуктовый WBR», раздел «Цели KPI по площадкам» и «Помесячный план».
Факт Q3 — среднее по закрытым месяцам июль–сентябрь; в Q4 закрытых месяцев пока нет. План на конец года — цель Q4 2026. Октябрь — прогноз на конец месяца по факту 1–5.10, ноябрь и декабрь — только план.
MPAU Q3: 6 243 при плане 7 820 — 79,8 %. Ниже 80 % KPI в скоркарте не засчитывается.
ARPPU — сумма оплат на платящего: списания по промо, тарифам, публикациям и отчётам / MPAU. Q3: 902 при плане 646. План KPI посчитан по выручке «тарифы и промо»; в этом определении ARPPU по месяцам: Янв 606, Фев 588, Мар 671, Апр 651, Май 600, Июн 697, Июл 798, Авг 829, Сен 705; Q3 — 777 (120 % плана).
MDAU — пополняющие за месяц, ARPDU — сумма пополнений на пополняющего. В мануале плана по ним нет, план расчётный. Сумма на пополняющего: сентябрь–декабрь — уровни месячного отчёта от 30.09 (1 261, 1 266, 1 309, 1 323), июль–август — на уровне сентября. Пополняющие = план пополнений / план суммы на пополняющего; план пополнений — выручка classified из мануала (июль 4,77, август 5,54, октябрь 6,33, ноябрь 6,72, декабрь 7,12 млн), сентябрь — 4 787 из отчёта от 30.09. План по месяцам, июль–декабрь: пополняющие 3 783, 4 393, 4 787, 5 002, 5 136, 5 384; сумма на пополняющего 1 261, 1 261, 1 261, 1 266, 1 309, 1 323. План на конец года — среднее Q4. Сумма на пополняющего: январь–август — выручка площадки / пополняющие, сентябрь — 5 429 478 / 4 442.
По месяцам, янв–сен и прогноз октября:
MPAU, платящих: 8 561, 8 588, 9 083, 8 980, 6 414, 5 167, 5 494, 5 970, 7 266; прогноз 8 243
ARPPU, сом: 623, 594, 686, 669, 704, 786, 855, 932, 920; прогноз 835
MDAU, пополняющих: 6 579, 6 209, 6 917, 6 535, 4 740, 4 067, 4 674, 4 657, 4 442; прогноз 4 724
ARPDU, сом: 788, 813, 881, 894, 865, 946, 1 004, 1 118, 1 222; прогноз 1 174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85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Существующий weekly_2026-09-28_2026-10-04_deck.json и его выгрузки; планы из месячного отчёта от 30.09.2026; Redash, дашборд 78 «Mashina — Декомпозиция выручки», запросы 618 и 622, выгрузка 06.10.2026; план MPAU — мануал «Продуктовый WBR»
Данные за 1–5.10. На слайде план полного месяца и прогноз на 31.10. Нижняя таблица: MPAU из Redash 326, средний депозит рассчитан из Redash 536 и SQL по transactions (пополнившие).
Новые объявления: факт 3 697; прогноз 22 921; план 27 828. Расчёт: легковые: частные 3 189, дилеры 508. Прогноз 3 697 / 5 × 31 = 22 921; план 27 828
Пополнения, сом: факт 833 388; прогноз 5 167 006; план —. Расчёт: sum_revenue за 1–5.10. Прогноз 833 388 / 5 × 31 = 5 167 006; в сентябре 5 429 478
Регистрации: факт 2 281; прогноз 14 142; план —. Расчёт: new_users за 1–5.10. Прогноз 2 281 / 5 × 31 = 14 142; в сентябре 16 958
Прогноз MPAU из еженедельного отчёта использует базу Redash 326 за сентябрь 7 267; сентябрьский факт на соседнем слайде — SQL 7 266. Разница одного пользователя сохранена в источниках, методики не смешиваются молча. Удержание, конверсия, вернувшиеся и платящие дилеры октября не добавлены: в имеющихся материалах нет полного набора октябрьского факта, прогноза и плана. Прогноз среднего депозита сохранён по коэффициенту сентября из существующего отчёта, не умножен на число дней.
Декомпозиция выручки (Redash 78). Прогноз на 31.10 по профилю сентября: факт 1–5.10 × полный сентябрь / факт 1–5.09. Плана по этим показателям нет, сравнение — с фактом сентября. Данные — транзакции из Redash, без комиссии по кредитам. Удержание и конверсия — отношения прогнозных значений.
Пополняющие: сентябрь 4 442; прогноз 4 724. Расчёт: 855 × 4 442 / 804 = 4 724
— удержанные: сентябрь 1 016; прогноз 1 120. Расчёт: пополняли и в сентябре. 291 × 1 016 / 264 = 1 120
— новые: сентябрь 1 702; прогноз 1 789. Расчёт: первое пополнение. 246 × 1 702 / 234 = 1 789
— вернувшиеся: сентябрь 1 724; прогноз 1 815. Расчёт: пополняющие − удержанные − новые = 4 724 − 1 120 − 1 789 = 1 815
Удержание, %: сентябрь 21,8%; прогноз 25,2%. Расчёт: удержанные / пополняющие прошлого месяца = 1 120 / 4 442; сентябрь 1 016 / 4 657
Регистрация → пополнение, %: сентябрь 10,0%; прогноз 12,2%. Расчёт: новые / регистрации = 1 789 / 14 646; регистрации по профилю сентября: 2 281 × 16 958 / 2 641 = 14 646
Планы пополнений и регистраций. Утверждённого плана октября по ним нет, план расчётный. Пополнения: план выручки classified октября из мануала и годового P&amp;L — тарифы и промо 5 823 735 + отчёты по авто 508 737 = 6 332 472 (выручка площадки = пополнения кошельков). Регистрации: план сентября 15 837 × рост плана MAU из мануала 669 / 647 = 16 376.
MDAU (Monthly Depositing Active Users) — уникальные пополняющие за месяц. MPAU и сумма на пополняющего (ARPDU) показаны на слайде продуктовых метрик.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89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Redash, SQL по логике запросов дашборда 77 «Mashina - Структура объявлений» (608, 616, 617, 628) для всех авто; выгрузка 07.10.2026
Снимки активных объявлений (статусы active и pending) на конец дня 30.09 и 05.10. Все авто — категории легковые, коммерческие, спецтехника, мото; запчасти, услуги и «куплю» не входят. На дашборде 77 запросы считаются по одной категории, поэтому цифры по всем авто получены тем же SQL с четырьмя категориями сразу. Плана по этим показателям нет: колонки — значение на 30.09, значение на 05.10 и изменение. Столбцы справа — 05.10 в процентах к 30.09, ось от 90%.
Наблюдения. Объявлений 63 851 (+775 (+1,2%) за 5 дней), продавцов 33 355. 287 дилеров — 0,9% продавцов — держат 36,4% объявлений; медиана у дилера 13 объявлений, P80 — 49, максимум 3 897. У частника медиана и P80 — одно объявление. Медианный возраст по продавцам на 05.10: дилеры 82 дня, частники 79.
Ограничение. История статусов ведётся с 12.05.2026, поэтому возраст объявления не может быть больше числа дней с этой даты (147 на 05.10): медиана и доля старше 90 дней занижены для старых объявлений.
Объявления частников: 30.09 40 167; 05.10 40 609; изменение +442 (+1,1%). Расчёт: активные объявления частников: легковые, коммерческие, спецтехника, мото
Объявления дилеров: 30.09 22 909; 05.10 23 242; изменение +333 (+1,5%). Расчёт: активные объявления дилеров: легковые, коммерческие, спецтехника, мото
Продавцы-частники: 30.09 32 715; 05.10 33 068; изменение +353 (+1,1%). Расчёт: уникальные частники с активным объявлением
Продавцы-дилеры: 30.09 281; 05.10 287; изменение +6 (+2,1%). Расчёт: уникальные дилеры с активным объявлением
Объявлений на частника: 30.09 1,23; 05.10 1,23; изменение +0,00 (+0,0%). Расчёт: объявления частников / частники: 40 609 / 33 068; на 30.09 40 167 / 32 715
Объявлений на дилера: 30.09 81,5; 05.10 81,0; изменение −0,5 (−0,7%). Расчёт: объявления дилеров / дилеры: 23 242 / 287; на 30.09 22 909 / 281
Медианный возраст, дней: 30.09 80; 05.10 82; изменение +2 (+2,5%). Расчёт: медиана возраста по всем регионам и продавцам; история статусов с 12.05.2026
Доля объявлений старше 90 дней: 30.09 45,8%; 05.10 46,6%; изменение +0,7 п.п.. Расчёт: возраст от 91 дня / все авто: 29 739 / 63 851; на 30.09 28 905 / 63 076
P80 объявлений на дилера: 30.09 50; 05.10 49; изменение −1 (−2,0%). Расчёт: 20% самых крупных дилеров держат столько объявлений или больше
P80 объявлений на частника: 30.09 1; 05.10 1; изменение 0 (0,0%). Расчёт: 80% частников держат не больше одного объявления; максимум у частника 113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14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Jira, проект «Панель разработки» (MASH), версия «Релиз 3.0.20 mashina.kg» (id 10100, дата 30.09.2026), статусы на 07.10.2026
Версия «Релиз 3.0.20 mashina.kg» отмечена в Jira выпущенной 30.09.2026. В ней 40 задач разработки (без подзадач). Статусы на 07.10.2026 (за сутки не изменились): Ready to release 22, Готово 2, Ready to test 10, In testing 2, Review 2, В работе 1, Kickback 1. Статусы задач после выпуска версии могли не обновить — что из правой колонки реально вышло 30.09, по Jira не определить.
Готово к выпуску или закрыто (24 задачи): Автобизнес MASH-1081, 1087, 1088; Instagram MASH-1149, 1150, 1151; звонок без авторизации MASH-1158, 1067; редирект после смены пароля MASH-1138, 1139, 1141; настройки и модалка MASH-1112, 1113; «Пополнить баланс» MASH-1089; WebView РИОМ MASH-1159, 1160; непрочитанные MASH-1156; история оплат MASH-1143; популярные марки MASH-1174; listing_logs MASH-1224; футер MASH-1325; неактивные в избранном — веб и бэкенд MASH-1085, 1083; фикс бага MASH-1131.
В тестировании, ревью и работе (16 задач): страхование MASH-980, 1010 (In testing), MASH-1063 (Ready to test); кэшбек ОСАГО MASH-1216 (Review), MASH-1215, 1096 (Ready to test); ивенты пушей и VIN MASH-1220, 1134; разметка мобилки MASH-1297 и Adjust MASH-1285; разметка веба MASH-1302 (Ready to test), MASH-1303 (В работе); неактивные в избранном, мобилка MASH-1084 (Kickback); правки по интерфейсу MASH-1086 (Review); MASH-1301, MASH-1280 (Ready to test).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05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Jira, проект MASHINA, версия «Релиз 07.10.2026»: https://jira.mashina.kg/issues/?jql=project%3DMASHINA%20AND%20fixVersion%3D10115 — выгрузка 07.10.2026
Считаем фичи = эпики с продуктом Mashina.kg в версии «Релиз 07.10.2026» (id 10115, версия не выпущена — это план релиза). Статусы Jira на 07.10.2026, состав версии с 06.10 не изменился.
Готово к выпуску (1): MASHINA-297 «Починить поиск».
Разработка (7): MASHINA-299 «Залоговый конвейер до отправки заявки», MASHINA-301 «Автофинансирование на Коммерческий транспорт», MASHINA-303 «Добавить в админку пушей 3 аудитории», MASHINA-401 «Лейбл «22% кэшбек» на карточке ОСАГО на главной», MASHINA-387 «Смена логотипа Mashina.kg», MASHINA-304 «Заменить логотипы на экране «Проверка по ВИН»», MASHINA-302 «Добавить статусы заявки автофинансирования» (06.10 был в бэклоге разработки).
В версии есть ещё история дизайна MASHINA-402 (статус «На оценку») — в число фич не входит.
Задачи разработки в проекте MASH, версия «Релиз Mashina.kg 07/10» (id 10103), 17 задач без подзадач: Ready to release 1, Ready to test 12, In testing 1, Review 1, В работе 1, Holding 1.
Статус эпика двигается автоматически по задачам разработки в проекте MASH: «Разработка» значит, что хотя бы одна задача в работе, ревью или тестировании.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21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Jira, проект MASHINA, версии «Релиз 21.10.2026», «Релиз 04.11.2026», «Релиз 18.11.2026»: https://jira.mashina.kg/issues/?jql=project%3DMASHINA%20AND%20fixVersion%20in%20(10108%2C10109%2C10110) — выгрузка 07.10.2026
Считаем фичи = эпики с продуктом Mashina.kg; истории дизайна в число фич не входят. Статусы Jira на 07.10.2026. Изменение с 06.10: MASHINA-323 «Быстрая оплата» перенесена из релиза 18.11 в релиз 04.11; статусы эпиков не менялись. Спринты: 08.10–21.10, 22.10–04.11, 05.11–18.11; дата релиза — последний день спринта.
Релиз 21.10.2026 (версия 10108), 6 эпиков, все «Готово к тех оценке»: MASHINA-291 «Гараж - Этап 1», MASHINA-298 «Проверить авто VIN и госномеру в карточке объявления», MASHINA-300 «Кредитный потенциал MBANK в Mashina.kg + доработка профиля в мобилке», MASHINA-305 «Каскадная регистрация иностранных номеров через Telegram и WhatsApp», MASHINA-376 «Поступление ивентов с WEB в GA4», MASHINA-309 «Убрать синхронное удаление аккаунта через хаус и базар» (продукты Mashina.kg, House.kg, Bazar.kg). Истории дизайна: MASHINA-344, MASHINA-403 — «На оценку».
Релиз 04.11.2026 (версия 10109), 8 эпиков. Готово к тех оценке: MASHINA-314 «Отображение значков продвижения на объявлении», MASHINA-312 «Попап с оценкой», MASHINA-325 «Разметка поиска». Бэклог дизайна: MASHINA-306 «Срок жизни объявления + 50% скидка на первое промо», MASHINA-307 «Переработка системы бонусов». Бэклог QA анализа: MASHINA-322 «Пополнение баланса», MASHINA-323 «Быстрая оплата». Формирование требований: MASHINA-320 «Фича флаги». Истории дизайна: MASHINA-404, MASHINA-345, MASHINA-346 — «На оценку».
Релиз 18.11.2026 (версия 10110), 3 эпика, все «Бэклог QA анализа»: MASHINA-310 «Иконка чата + быстрые сообщения», MASHINA-324 «Коммуникации с пользователями по триггерам», MASHINA-406 «Страница промо без объявления».
Итого 17 эпиков: готово к тех оценке 9, бэклог QA анализа 5, бэклог дизайна 2, формирование требований 1.
Зелёным — приоритеты CEO от 15.09: «Гараж» (тогда MASHINA-165, сейчас эпик MASHINA-291) и «Проверить авто в карточке объявления» (тогда MASHINA-247, сейчас MASHINA-298). Сопоставление по названию: старые карточки заархивированы 24.09.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9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«План сервиса Гараж» от 09.09.2026 и PRD «Гараж. Этап 1», Confluence pageId 86869474
Релиз 21 октября. В листе 08.10-21.10 задача на этапе «Дизайн», ключ MASHINA-165. Метрики Этапа 1: активация (пользователи с ≥1 авто / MAU приложения), возврат в Гараж за 30 дней, конверсия в объявление с entry_point = garage, покупки из Гаража, доля завершивших добавление. Ограничения: интеграций с ГРС, Tolom.kg и Тундуком нет, VIN, госномер и пробег вводит пользователь. Открытые вопросы: кто в МБанке отвечает за интеграцию с ГРС, реальный срок интеграции, кэширование госданных, согласия по закону КР № 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PRD «Срок жизни объявления» от 22.09.2026, Confluence pageId 86869525
Релиз 21 октября. В листе 08.10-21.10 задача на этапе «Дизайн», ключи MASHINA-252 и MASHINA-198. В таблице задача названа «Срок жизни объявления + 50% скидка на первое промо», в PRD это кешбэк 50% бонусами за первое платное продление, один раз на пользователя, а не скидка на промо — формулировку в таблице стоит поправить. Цены: продление и активация — цена платной публикации в категории; продление под промо на M дней — цена публикации / 30 × M. Напоминания: день 27 — пуш, день 29 — пуш и SMS, день 30 — пуш о деактивации. Старой базе ставим срок 30 дней от даты релиза, досрочно никого не снимаем.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«Срок жизни объявления: влияние на показатели месяца» от 29.09.2026
Релиз 07.10. Auto up и лимит бесплатных работают сразу, продления и снятие старых объявлений — примерно с 03.11.
База — факт за 1–28 сентября из этого же отчёта. Эффект — прирост за месяц, когда фича работает полностью. В колонке «Изменение» — середина диапазона; для конверсии и удержания указаны пункты, столбец на диаграмме показывает относительное изменение.
Когда что сработает при релизе 07.10: с дня релиза — платный Auto up и одно бесплатное объявление на группу для новых объявлений (выручка, MPAU, пополняющие, новые объявления). Примерно с 03.11 — первые напоминания о сроке, продления и снятие старых объявлений. В ноябре разовая волна: все старые объявления истекают в один день, будет скачок продлений и пополнений в первую неделю, затем показатели выйдут на уровень из таблицы.
Выручка +100–220 тыс. сом: Auto up 50–95 тыс., лимит одного бесплатного объявления и платные продления сверх лимита 40–75 тыс., продление платных 25–40 тыс., промо с продлением и платная активация 5–10 тыс., переход частников на тариф «Актив» 3–8 тыс. Строка «Публикации» (249 тыс.) вырастет на 40–80%. Кешбэк 50% за первое продление выдаётся бонусами: когда их потратят, они попадут в выручку, но живых денег не принесут.
Пополнения растут быстрее выручки: не каждый платёж становится пополнением (в сентябре пополняли баланс 69% плативших за публикацию и 44% покупавших Auto up), а новые пополняющие кладут на баланс больше, чем тратят — у покупателей Auto up среднее пополнение 726 сом при покупке за 120.
Раскладка прироста пополняющих: новые (первое пополнение за всю историю) +100–200, удержанные с прошлого месяца +20–80, вернувшиеся после перерыва +80–120.
Оговорка по конверсии: она вырастет не потому, что лучше конвертируются новички — большинство новых пополняющих это давние пользователи, которые впервые заплатят за Auto up или второе объявление.
Платящие дилеры: выгода перехода на тариф начинается с продавцов запчастей — 334 человека держат 1 572 объявления сверх лимита, в среднем по 5 на человека, каждое после перехода будет стоить 20 сом за продление. Для легковых выгода начинается с 7–8 объявлений, таких частников мало.
Новые объявления: чтобы в показатель не попали дубли, повторная публикация истёкшего объявления должна приходить как republish, а не как новое объявление.
Допущения: проценты продления и покупки Auto up — оценка автора, данных нет; доля платежей, которые становятся пополнениями, взята по сентябрю; цена «Актив» — средний чек месячной подписки с 01.08, 531 сом; база — неполный месяц, для полного объёмы примерно ×1,11, проценты те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Слайд из месячного отчёта от 30.09.2026; дата релиза — Jira, MASHINA-307, версия «Релиз 04.11.2026»
Тексты слайда перенесены из месячного отчёта от 30.09.2026 без изменений. Плановая дата релиза обновлена по Jira: эпик MASHINA-307 стоит в версии «Релиз 04.11.2026», статус «Бэклог дизайна» (на 30.09 был план 21.10). Число 891 621 — остаток бонусов за тарифы на 16.09 из 1 299 163 начисленных, это не факт на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92.204.189.31:8082/queries/618?p_date_from=2026-01-01" TargetMode="External"/><Relationship Id="rId5" Type="http://schemas.openxmlformats.org/officeDocument/2006/relationships/hyperlink" Target="http://92.204.189.31:8082/queries/621?p_date_from=2026-01-01" TargetMode="External"/><Relationship Id="rId4" Type="http://schemas.openxmlformats.org/officeDocument/2006/relationships/hyperlink" Target="http://92.204.189.31:8082/queries/619?p_date_from=2026-01-01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92.204.189.31:8082/queries/622?p_date_from=2026-01-01" TargetMode="External"/><Relationship Id="rId3" Type="http://schemas.openxmlformats.org/officeDocument/2006/relationships/hyperlink" Target="http://92.204.189.31:8082/queries/348?p_category_group=car&amp;p_date_from=2026-10-01&amp;p_date_to=2026-10-05&amp;p_granularity=day#779" TargetMode="External"/><Relationship Id="rId7" Type="http://schemas.openxmlformats.org/officeDocument/2006/relationships/hyperlink" Target="http://92.204.189.31:8082/queries/618?p_date_from=2026-01-0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hyperlink" Target="http://92.204.189.31:8082/queries/430?p_from_date=2026-10-01&amp;p_to_date=2026-10-05#947" TargetMode="External"/><Relationship Id="rId4" Type="http://schemas.openxmlformats.org/officeDocument/2006/relationships/hyperlink" Target="http://92.204.189.31:8082/queries/536?p_from_date=2026-10-01&amp;p_to_date=2026-10-05#1188" TargetMode="External"/><Relationship Id="rId9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hyperlink" Target="http://92.204.189.31:8082/queries/608?p_category_group=%D0%9B%D0%B5%D0%B3%D0%BA%D0%BE%D0%B2%D1%8B%D0%B5&amp;p_date_from=2026-09-30&amp;p_date_to=2026-10-05" TargetMode="External"/><Relationship Id="rId7" Type="http://schemas.openxmlformats.org/officeDocument/2006/relationships/hyperlink" Target="http://92.204.189.31:8082/queries/628?p_category_group=%D0%9B%D0%B5%D0%B3%D0%BA%D0%BE%D0%B2%D1%8B%D0%B5&amp;p_date_from=2026-09-30&amp;p_date_to=2026-10-05&amp;p_seller_type=%D0%94%D0%B8%D0%BB%D0%B5%D1%8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92.204.189.31:8082/queries/617?p_category_group=%D0%9B%D0%B5%D0%B3%D0%BA%D0%BE%D0%B2%D1%8B%D0%B5&amp;p_date_from=2026-09-30&amp;p_date_to=2026-10-05&amp;p_seller_type=%D0%92%D1%81%D0%B5&amp;p_region_group=%D0%92%D1%81%D0%B5%20%D1%80%D0%B5%D0%B3%D0%B8%D0%BE%D0%BD%D1%8B" TargetMode="External"/><Relationship Id="rId5" Type="http://schemas.openxmlformats.org/officeDocument/2006/relationships/hyperlink" Target="http://92.204.189.31:8082/queries/616?p_category_group=%D0%9B%D0%B5%D0%B3%D0%BA%D0%BE%D0%B2%D1%8B%D0%B5&amp;p_date_from=2026-09-30&amp;p_date_to=2026-10-05&amp;p_seller_type=%D0%92%D1%81%D0%B5&amp;p_region_group=%D0%92%D1%81%D0%B5%20%D1%80%D0%B5%D0%B3%D0%B8%D0%BE%D0%BD%D1%8B" TargetMode="Externa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Месячный продуктовый отчёт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Mashina.kg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и октябрь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777240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Аналитика: факт и прогноз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90824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3619424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6461608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фичи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12648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pic>
        <p:nvPicPr>
          <p:cNvPr id="4" name="Image 0" descr="C:\Users\ueabq\OneDrive\Документы\ChatGPT\Mashina.kg\tmp\monthly_wbr_layout\logos\ppt\media\image-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57" y="329184"/>
            <a:ext cx="186309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" y="713232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Выручка: </a:t>
            </a:r>
            <a:r>
              <a:rPr lang="en-US" sz="2300" b="1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 — 94 % плана, classified −0,7, кредиты +0,6 млн</a:t>
            </a:r>
            <a:endParaRPr lang="en-US" sz="2300" dirty="0"/>
          </a:p>
        </p:txBody>
      </p:sp>
      <p:sp>
        <p:nvSpPr>
          <p:cNvPr id="7" name="Shape 3"/>
          <p:cNvSpPr/>
          <p:nvPr/>
        </p:nvSpPr>
        <p:spPr>
          <a:xfrm>
            <a:off x="612648" y="1389888"/>
            <a:ext cx="2090867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768096" y="1508760"/>
            <a:ext cx="1816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· 1–5 окт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68096" y="1755648"/>
            <a:ext cx="18165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млн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68096" y="2157984"/>
            <a:ext cx="18165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85 % плана на 5 дней</a:t>
            </a:r>
            <a:endParaRPr lang="en-US" sz="1050" dirty="0"/>
          </a:p>
        </p:txBody>
      </p:sp>
      <p:sp>
        <p:nvSpPr>
          <p:cNvPr id="11" name="Shape 7">
            <a:hlinkClick r:id="rId4" action="ppaction://hlinksldjump"/>
          </p:cNvPr>
          <p:cNvSpPr/>
          <p:nvPr/>
        </p:nvSpPr>
        <p:spPr>
          <a:xfrm>
            <a:off x="612648" y="1389888"/>
            <a:ext cx="2090867" cy="10972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/>
          <p:cNvSpPr/>
          <p:nvPr/>
        </p:nvSpPr>
        <p:spPr>
          <a:xfrm>
            <a:off x="2831531" y="1389888"/>
            <a:ext cx="2090867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2986979" y="1508760"/>
            <a:ext cx="1816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F6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· октябрь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86979" y="1755648"/>
            <a:ext cx="18165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 млн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986979" y="2157984"/>
            <a:ext cx="18165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−9,4 % к сентябрю</a:t>
            </a:r>
            <a:endParaRPr lang="en-US" sz="1050" dirty="0"/>
          </a:p>
        </p:txBody>
      </p:sp>
      <p:sp>
        <p:nvSpPr>
          <p:cNvPr id="16" name="Shape 12">
            <a:hlinkClick r:id="rId4" action="ppaction://hlinksldjump"/>
          </p:cNvPr>
          <p:cNvSpPr/>
          <p:nvPr/>
        </p:nvSpPr>
        <p:spPr>
          <a:xfrm>
            <a:off x="2831531" y="1389888"/>
            <a:ext cx="2090867" cy="10972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/>
          <p:cNvSpPr/>
          <p:nvPr/>
        </p:nvSpPr>
        <p:spPr>
          <a:xfrm>
            <a:off x="5050414" y="1389888"/>
            <a:ext cx="2090867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4"/>
          <p:cNvSpPr/>
          <p:nvPr/>
        </p:nvSpPr>
        <p:spPr>
          <a:xfrm>
            <a:off x="5205862" y="1508760"/>
            <a:ext cx="1816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· октябрь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205862" y="1755648"/>
            <a:ext cx="18165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 млн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205862" y="2157984"/>
            <a:ext cx="18165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— 94 % плана</a:t>
            </a:r>
            <a:endParaRPr lang="en-US" sz="1050" dirty="0"/>
          </a:p>
        </p:txBody>
      </p:sp>
      <p:sp>
        <p:nvSpPr>
          <p:cNvPr id="21" name="Shape 17">
            <a:hlinkClick r:id="rId4" action="ppaction://hlinksldjump"/>
          </p:cNvPr>
          <p:cNvSpPr/>
          <p:nvPr/>
        </p:nvSpPr>
        <p:spPr>
          <a:xfrm>
            <a:off x="5050414" y="1389888"/>
            <a:ext cx="2090867" cy="10972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8"/>
          <p:cNvSpPr/>
          <p:nvPr/>
        </p:nvSpPr>
        <p:spPr>
          <a:xfrm>
            <a:off x="7269297" y="1389888"/>
            <a:ext cx="2090867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7424745" y="1508760"/>
            <a:ext cx="1816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9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 2026 · P&amp;L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424745" y="1755648"/>
            <a:ext cx="18165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87,9 млн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424745" y="2157984"/>
            <a:ext cx="18165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янв–авг + прогноз</a:t>
            </a:r>
            <a:endParaRPr lang="en-US" sz="1050" dirty="0"/>
          </a:p>
        </p:txBody>
      </p:sp>
      <p:sp>
        <p:nvSpPr>
          <p:cNvPr id="26" name="Shape 22">
            <a:hlinkClick r:id="rId4" action="ppaction://hlinksldjump"/>
          </p:cNvPr>
          <p:cNvSpPr/>
          <p:nvPr/>
        </p:nvSpPr>
        <p:spPr>
          <a:xfrm>
            <a:off x="7269297" y="1389888"/>
            <a:ext cx="2090867" cy="10972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9488180" y="1389888"/>
            <a:ext cx="2090867" cy="1097280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9525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4"/>
          <p:cNvSpPr/>
          <p:nvPr/>
        </p:nvSpPr>
        <p:spPr>
          <a:xfrm>
            <a:off x="9643628" y="1508760"/>
            <a:ext cx="1816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5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 ориентира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643628" y="1755648"/>
            <a:ext cx="18165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69 %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9643628" y="2157984"/>
            <a:ext cx="18165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с начала года 60,3 млн</a:t>
            </a:r>
            <a:endParaRPr lang="en-US" sz="1050" dirty="0"/>
          </a:p>
        </p:txBody>
      </p:sp>
      <p:sp>
        <p:nvSpPr>
          <p:cNvPr id="31" name="Shape 27">
            <a:hlinkClick r:id="rId4" action="ppaction://hlinksldjump"/>
          </p:cNvPr>
          <p:cNvSpPr/>
          <p:nvPr/>
        </p:nvSpPr>
        <p:spPr>
          <a:xfrm>
            <a:off x="9488180" y="1389888"/>
            <a:ext cx="2090867" cy="10972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28"/>
          <p:cNvSpPr/>
          <p:nvPr/>
        </p:nvSpPr>
        <p:spPr>
          <a:xfrm>
            <a:off x="612648" y="2697480"/>
            <a:ext cx="128016" cy="12801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29"/>
          <p:cNvSpPr/>
          <p:nvPr/>
        </p:nvSpPr>
        <p:spPr>
          <a:xfrm>
            <a:off x="813816" y="2651760"/>
            <a:ext cx="557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1371600" y="2697480"/>
            <a:ext cx="128016" cy="128016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1"/>
          <p:cNvSpPr/>
          <p:nvPr/>
        </p:nvSpPr>
        <p:spPr>
          <a:xfrm>
            <a:off x="1572768" y="2651760"/>
            <a:ext cx="632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Тарифы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2205533" y="2697480"/>
            <a:ext cx="128016" cy="128016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2406701" y="26517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Публикации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3339389" y="2697480"/>
            <a:ext cx="128016" cy="128016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5"/>
          <p:cNvSpPr/>
          <p:nvPr/>
        </p:nvSpPr>
        <p:spPr>
          <a:xfrm>
            <a:off x="3540557" y="2651760"/>
            <a:ext cx="632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173322" y="2697480"/>
            <a:ext cx="128016" cy="128016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7"/>
          <p:cNvSpPr/>
          <p:nvPr/>
        </p:nvSpPr>
        <p:spPr>
          <a:xfrm>
            <a:off x="4374490" y="2651760"/>
            <a:ext cx="707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5082235" y="2697480"/>
            <a:ext cx="128016" cy="128016"/>
          </a:xfrm>
          <a:prstGeom prst="rect">
            <a:avLst/>
          </a:prstGeom>
          <a:solidFill>
            <a:srgbClr val="7B5C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39"/>
          <p:cNvSpPr/>
          <p:nvPr/>
        </p:nvSpPr>
        <p:spPr>
          <a:xfrm>
            <a:off x="5283403" y="2651760"/>
            <a:ext cx="6327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Лизинг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5916168" y="2697480"/>
            <a:ext cx="128016" cy="128016"/>
          </a:xfrm>
          <a:prstGeom prst="rect">
            <a:avLst/>
          </a:prstGeom>
          <a:solidFill>
            <a:srgbClr val="D65C9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1"/>
          <p:cNvSpPr/>
          <p:nvPr/>
        </p:nvSpPr>
        <p:spPr>
          <a:xfrm>
            <a:off x="6117336" y="2651760"/>
            <a:ext cx="10076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7125005" y="2697480"/>
            <a:ext cx="128016" cy="128016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Text 43"/>
          <p:cNvSpPr/>
          <p:nvPr/>
        </p:nvSpPr>
        <p:spPr>
          <a:xfrm>
            <a:off x="7326173" y="2651760"/>
            <a:ext cx="23573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пополнений и списаний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612648" y="30175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5"/>
          <p:cNvSpPr/>
          <p:nvPr/>
        </p:nvSpPr>
        <p:spPr>
          <a:xfrm>
            <a:off x="612648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+86,7 % янв → сен, факт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2852928" y="301752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1F4FFF"/>
          </a:solidFill>
          <a:ln w="12700">
            <a:solidFill>
              <a:srgbClr val="1F4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7"/>
          <p:cNvSpPr/>
          <p:nvPr/>
        </p:nvSpPr>
        <p:spPr>
          <a:xfrm>
            <a:off x="2852928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+18,2 % сен → дек, план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9064447" y="3090672"/>
            <a:ext cx="128016" cy="12801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49"/>
          <p:cNvSpPr/>
          <p:nvPr/>
        </p:nvSpPr>
        <p:spPr>
          <a:xfrm>
            <a:off x="9265615" y="3044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9832543" y="3090672"/>
            <a:ext cx="128016" cy="128016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Text 51"/>
          <p:cNvSpPr/>
          <p:nvPr/>
        </p:nvSpPr>
        <p:spPr>
          <a:xfrm>
            <a:off x="10033711" y="30449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10829239" y="3090672"/>
            <a:ext cx="128016" cy="128016"/>
          </a:xfrm>
          <a:prstGeom prst="rect">
            <a:avLst/>
          </a:prstGeom>
          <a:pattFill prst="wdUpDiag">
            <a:fgClr>
              <a:srgbClr val="B4BED2"/>
            </a:fgClr>
            <a:bgClr>
              <a:srgbClr val="FFFFFF"/>
            </a:bgClr>
          </a:pattFill>
          <a:ln w="6350">
            <a:solidFill>
              <a:srgbClr val="B4BE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3"/>
          <p:cNvSpPr/>
          <p:nvPr/>
        </p:nvSpPr>
        <p:spPr>
          <a:xfrm>
            <a:off x="11030407" y="3044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612648" y="5542890"/>
            <a:ext cx="10966399" cy="10973"/>
          </a:xfrm>
          <a:prstGeom prst="rect">
            <a:avLst/>
          </a:prstGeom>
          <a:solidFill>
            <a:srgbClr val="C9D1D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9" name="Shape 55"/>
          <p:cNvSpPr/>
          <p:nvPr/>
        </p:nvSpPr>
        <p:spPr>
          <a:xfrm>
            <a:off x="932421" y="4984594"/>
            <a:ext cx="274320" cy="56378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0" name="Shape 56"/>
          <p:cNvSpPr/>
          <p:nvPr/>
        </p:nvSpPr>
        <p:spPr>
          <a:xfrm>
            <a:off x="932421" y="4862548"/>
            <a:ext cx="274320" cy="122046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1" name="Shape 57"/>
          <p:cNvSpPr/>
          <p:nvPr/>
        </p:nvSpPr>
        <p:spPr>
          <a:xfrm>
            <a:off x="932421" y="4791771"/>
            <a:ext cx="274320" cy="70777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2" name="Shape 58"/>
          <p:cNvSpPr/>
          <p:nvPr/>
        </p:nvSpPr>
        <p:spPr>
          <a:xfrm>
            <a:off x="932421" y="4699754"/>
            <a:ext cx="274320" cy="92017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3" name="Shape 59"/>
          <p:cNvSpPr/>
          <p:nvPr/>
        </p:nvSpPr>
        <p:spPr>
          <a:xfrm>
            <a:off x="932421" y="5548376"/>
            <a:ext cx="274320" cy="23652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Text 60"/>
          <p:cNvSpPr/>
          <p:nvPr/>
        </p:nvSpPr>
        <p:spPr>
          <a:xfrm>
            <a:off x="749541" y="448029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</a:t>
            </a:r>
            <a:endParaRPr lang="en-US" sz="1000" dirty="0"/>
          </a:p>
        </p:txBody>
      </p:sp>
      <p:sp>
        <p:nvSpPr>
          <p:cNvPr id="65" name="Text 61"/>
          <p:cNvSpPr/>
          <p:nvPr/>
        </p:nvSpPr>
        <p:spPr>
          <a:xfrm>
            <a:off x="612648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</a:t>
            </a:r>
            <a:endParaRPr lang="en-US" sz="1100" dirty="0"/>
          </a:p>
        </p:txBody>
      </p:sp>
      <p:sp>
        <p:nvSpPr>
          <p:cNvPr id="66" name="Text 62"/>
          <p:cNvSpPr/>
          <p:nvPr/>
        </p:nvSpPr>
        <p:spPr>
          <a:xfrm>
            <a:off x="612648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3,4 %</a:t>
            </a:r>
            <a:endParaRPr lang="en-US" sz="950" dirty="0"/>
          </a:p>
        </p:txBody>
      </p:sp>
      <p:sp>
        <p:nvSpPr>
          <p:cNvPr id="67" name="Shape 63">
            <a:hlinkClick r:id="rId4" action="ppaction://hlinksldjump"/>
          </p:cNvPr>
          <p:cNvSpPr/>
          <p:nvPr/>
        </p:nvSpPr>
        <p:spPr>
          <a:xfrm>
            <a:off x="612648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8" name="Shape 64"/>
          <p:cNvSpPr/>
          <p:nvPr/>
        </p:nvSpPr>
        <p:spPr>
          <a:xfrm>
            <a:off x="1846288" y="4967656"/>
            <a:ext cx="274320" cy="58072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9" name="Shape 65"/>
          <p:cNvSpPr/>
          <p:nvPr/>
        </p:nvSpPr>
        <p:spPr>
          <a:xfrm>
            <a:off x="1846288" y="4868230"/>
            <a:ext cx="274320" cy="99426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0" name="Shape 66"/>
          <p:cNvSpPr/>
          <p:nvPr/>
        </p:nvSpPr>
        <p:spPr>
          <a:xfrm>
            <a:off x="1846288" y="4801235"/>
            <a:ext cx="274320" cy="66995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1" name="Shape 67"/>
          <p:cNvSpPr/>
          <p:nvPr/>
        </p:nvSpPr>
        <p:spPr>
          <a:xfrm>
            <a:off x="1846288" y="4736363"/>
            <a:ext cx="274320" cy="64872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2" name="Shape 68"/>
          <p:cNvSpPr/>
          <p:nvPr/>
        </p:nvSpPr>
        <p:spPr>
          <a:xfrm>
            <a:off x="1846288" y="5548376"/>
            <a:ext cx="274320" cy="9171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3" name="Text 69"/>
          <p:cNvSpPr/>
          <p:nvPr/>
        </p:nvSpPr>
        <p:spPr>
          <a:xfrm>
            <a:off x="1663408" y="4516907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</a:t>
            </a:r>
            <a:endParaRPr lang="en-US" sz="1000" dirty="0"/>
          </a:p>
        </p:txBody>
      </p:sp>
      <p:sp>
        <p:nvSpPr>
          <p:cNvPr id="74" name="Text 70"/>
          <p:cNvSpPr/>
          <p:nvPr/>
        </p:nvSpPr>
        <p:spPr>
          <a:xfrm>
            <a:off x="1526515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Фев</a:t>
            </a:r>
            <a:endParaRPr lang="en-US" sz="1100" dirty="0"/>
          </a:p>
        </p:txBody>
      </p:sp>
      <p:sp>
        <p:nvSpPr>
          <p:cNvPr id="75" name="Text 71"/>
          <p:cNvSpPr/>
          <p:nvPr/>
        </p:nvSpPr>
        <p:spPr>
          <a:xfrm>
            <a:off x="1526515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2,7 %</a:t>
            </a:r>
            <a:endParaRPr lang="en-US" sz="950" dirty="0"/>
          </a:p>
        </p:txBody>
      </p:sp>
      <p:sp>
        <p:nvSpPr>
          <p:cNvPr id="76" name="Shape 72">
            <a:hlinkClick r:id="rId4" action="ppaction://hlinksldjump"/>
          </p:cNvPr>
          <p:cNvSpPr/>
          <p:nvPr/>
        </p:nvSpPr>
        <p:spPr>
          <a:xfrm>
            <a:off x="1526515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7" name="Shape 73"/>
          <p:cNvSpPr/>
          <p:nvPr/>
        </p:nvSpPr>
        <p:spPr>
          <a:xfrm>
            <a:off x="2760155" y="4863978"/>
            <a:ext cx="274320" cy="684398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8" name="Shape 74"/>
          <p:cNvSpPr/>
          <p:nvPr/>
        </p:nvSpPr>
        <p:spPr>
          <a:xfrm>
            <a:off x="2760155" y="4708812"/>
            <a:ext cx="274320" cy="155166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9" name="Shape 75"/>
          <p:cNvSpPr/>
          <p:nvPr/>
        </p:nvSpPr>
        <p:spPr>
          <a:xfrm>
            <a:off x="2760155" y="4633497"/>
            <a:ext cx="274320" cy="75315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0" name="Shape 76"/>
          <p:cNvSpPr/>
          <p:nvPr/>
        </p:nvSpPr>
        <p:spPr>
          <a:xfrm>
            <a:off x="2760155" y="4556906"/>
            <a:ext cx="274320" cy="76591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1" name="Shape 77"/>
          <p:cNvSpPr/>
          <p:nvPr/>
        </p:nvSpPr>
        <p:spPr>
          <a:xfrm>
            <a:off x="2760155" y="4517835"/>
            <a:ext cx="274320" cy="39071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2" name="Shape 78"/>
          <p:cNvSpPr/>
          <p:nvPr/>
        </p:nvSpPr>
        <p:spPr>
          <a:xfrm>
            <a:off x="2760155" y="5548376"/>
            <a:ext cx="274320" cy="21881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3" name="Text 79"/>
          <p:cNvSpPr/>
          <p:nvPr/>
        </p:nvSpPr>
        <p:spPr>
          <a:xfrm>
            <a:off x="2577275" y="4298379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</a:t>
            </a:r>
            <a:endParaRPr lang="en-US" sz="1000" dirty="0"/>
          </a:p>
        </p:txBody>
      </p:sp>
      <p:sp>
        <p:nvSpPr>
          <p:cNvPr id="84" name="Text 80"/>
          <p:cNvSpPr/>
          <p:nvPr/>
        </p:nvSpPr>
        <p:spPr>
          <a:xfrm>
            <a:off x="2440381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2440381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25,6 %</a:t>
            </a:r>
            <a:endParaRPr lang="en-US" sz="950" dirty="0"/>
          </a:p>
        </p:txBody>
      </p:sp>
      <p:sp>
        <p:nvSpPr>
          <p:cNvPr id="86" name="Shape 82">
            <a:hlinkClick r:id="rId4" action="ppaction://hlinksldjump"/>
          </p:cNvPr>
          <p:cNvSpPr/>
          <p:nvPr/>
        </p:nvSpPr>
        <p:spPr>
          <a:xfrm>
            <a:off x="2440381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7" name="Shape 83"/>
          <p:cNvSpPr/>
          <p:nvPr/>
        </p:nvSpPr>
        <p:spPr>
          <a:xfrm>
            <a:off x="3674021" y="4887916"/>
            <a:ext cx="274320" cy="66046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8" name="Shape 84"/>
          <p:cNvSpPr/>
          <p:nvPr/>
        </p:nvSpPr>
        <p:spPr>
          <a:xfrm>
            <a:off x="3674021" y="4729167"/>
            <a:ext cx="274320" cy="158750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9" name="Shape 85"/>
          <p:cNvSpPr/>
          <p:nvPr/>
        </p:nvSpPr>
        <p:spPr>
          <a:xfrm>
            <a:off x="3674021" y="4657720"/>
            <a:ext cx="274320" cy="71447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0" name="Shape 86"/>
          <p:cNvSpPr/>
          <p:nvPr/>
        </p:nvSpPr>
        <p:spPr>
          <a:xfrm>
            <a:off x="3674021" y="4592334"/>
            <a:ext cx="274320" cy="65386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1" name="Shape 87"/>
          <p:cNvSpPr/>
          <p:nvPr/>
        </p:nvSpPr>
        <p:spPr>
          <a:xfrm>
            <a:off x="3674021" y="4563765"/>
            <a:ext cx="274320" cy="28569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2" name="Shape 88"/>
          <p:cNvSpPr/>
          <p:nvPr/>
        </p:nvSpPr>
        <p:spPr>
          <a:xfrm>
            <a:off x="3674021" y="5548376"/>
            <a:ext cx="274320" cy="26359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3" name="Text 89"/>
          <p:cNvSpPr/>
          <p:nvPr/>
        </p:nvSpPr>
        <p:spPr>
          <a:xfrm>
            <a:off x="3491141" y="4344309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</a:t>
            </a:r>
            <a:endParaRPr lang="en-US" sz="1000" dirty="0"/>
          </a:p>
        </p:txBody>
      </p:sp>
      <p:sp>
        <p:nvSpPr>
          <p:cNvPr id="94" name="Text 90"/>
          <p:cNvSpPr/>
          <p:nvPr/>
        </p:nvSpPr>
        <p:spPr>
          <a:xfrm>
            <a:off x="3354248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</a:t>
            </a:r>
            <a:endParaRPr lang="en-US" sz="1100" dirty="0"/>
          </a:p>
        </p:txBody>
      </p:sp>
      <p:sp>
        <p:nvSpPr>
          <p:cNvPr id="95" name="Text 91"/>
          <p:cNvSpPr/>
          <p:nvPr/>
        </p:nvSpPr>
        <p:spPr>
          <a:xfrm>
            <a:off x="3354248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5,0 %</a:t>
            </a:r>
            <a:endParaRPr lang="en-US" sz="950" dirty="0"/>
          </a:p>
        </p:txBody>
      </p:sp>
      <p:sp>
        <p:nvSpPr>
          <p:cNvPr id="96" name="Shape 92">
            <a:hlinkClick r:id="rId4" action="ppaction://hlinksldjump"/>
          </p:cNvPr>
          <p:cNvSpPr/>
          <p:nvPr/>
        </p:nvSpPr>
        <p:spPr>
          <a:xfrm>
            <a:off x="3354248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7" name="Shape 93"/>
          <p:cNvSpPr/>
          <p:nvPr/>
        </p:nvSpPr>
        <p:spPr>
          <a:xfrm>
            <a:off x="4587888" y="5067584"/>
            <a:ext cx="274320" cy="48079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8" name="Shape 94"/>
          <p:cNvSpPr/>
          <p:nvPr/>
        </p:nvSpPr>
        <p:spPr>
          <a:xfrm>
            <a:off x="4587888" y="4924608"/>
            <a:ext cx="274320" cy="142976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9" name="Shape 95"/>
          <p:cNvSpPr/>
          <p:nvPr/>
        </p:nvSpPr>
        <p:spPr>
          <a:xfrm>
            <a:off x="4587888" y="4864354"/>
            <a:ext cx="274320" cy="60254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0" name="Shape 96"/>
          <p:cNvSpPr/>
          <p:nvPr/>
        </p:nvSpPr>
        <p:spPr>
          <a:xfrm>
            <a:off x="4587888" y="4830234"/>
            <a:ext cx="274320" cy="34120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1" name="Shape 97"/>
          <p:cNvSpPr/>
          <p:nvPr/>
        </p:nvSpPr>
        <p:spPr>
          <a:xfrm>
            <a:off x="4587888" y="4737904"/>
            <a:ext cx="274320" cy="92329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2" name="Shape 98"/>
          <p:cNvSpPr/>
          <p:nvPr/>
        </p:nvSpPr>
        <p:spPr>
          <a:xfrm>
            <a:off x="4587888" y="5548376"/>
            <a:ext cx="274320" cy="66234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3" name="Text 99"/>
          <p:cNvSpPr/>
          <p:nvPr/>
        </p:nvSpPr>
        <p:spPr>
          <a:xfrm>
            <a:off x="4405008" y="4518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</a:t>
            </a:r>
            <a:endParaRPr lang="en-US" sz="1000" dirty="0"/>
          </a:p>
        </p:txBody>
      </p:sp>
      <p:sp>
        <p:nvSpPr>
          <p:cNvPr id="104" name="Text 100"/>
          <p:cNvSpPr/>
          <p:nvPr/>
        </p:nvSpPr>
        <p:spPr>
          <a:xfrm>
            <a:off x="4268114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</a:t>
            </a:r>
            <a:endParaRPr lang="en-US" sz="1100" dirty="0"/>
          </a:p>
        </p:txBody>
      </p:sp>
      <p:sp>
        <p:nvSpPr>
          <p:cNvPr id="105" name="Text 101"/>
          <p:cNvSpPr/>
          <p:nvPr/>
        </p:nvSpPr>
        <p:spPr>
          <a:xfrm>
            <a:off x="4268114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22,3 %</a:t>
            </a:r>
            <a:endParaRPr lang="en-US" sz="950" dirty="0"/>
          </a:p>
        </p:txBody>
      </p:sp>
      <p:sp>
        <p:nvSpPr>
          <p:cNvPr id="106" name="Shape 102">
            <a:hlinkClick r:id="rId4" action="ppaction://hlinksldjump"/>
          </p:cNvPr>
          <p:cNvSpPr/>
          <p:nvPr/>
        </p:nvSpPr>
        <p:spPr>
          <a:xfrm>
            <a:off x="4268114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7" name="Shape 103"/>
          <p:cNvSpPr/>
          <p:nvPr/>
        </p:nvSpPr>
        <p:spPr>
          <a:xfrm>
            <a:off x="5501754" y="5086874"/>
            <a:ext cx="274320" cy="46150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8" name="Shape 104"/>
          <p:cNvSpPr/>
          <p:nvPr/>
        </p:nvSpPr>
        <p:spPr>
          <a:xfrm>
            <a:off x="5501754" y="4989188"/>
            <a:ext cx="274320" cy="97686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9" name="Shape 105"/>
          <p:cNvSpPr/>
          <p:nvPr/>
        </p:nvSpPr>
        <p:spPr>
          <a:xfrm>
            <a:off x="5501754" y="4937357"/>
            <a:ext cx="274320" cy="51830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0" name="Shape 106"/>
          <p:cNvSpPr/>
          <p:nvPr/>
        </p:nvSpPr>
        <p:spPr>
          <a:xfrm>
            <a:off x="5501754" y="4902124"/>
            <a:ext cx="274320" cy="35233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1" name="Shape 107"/>
          <p:cNvSpPr/>
          <p:nvPr/>
        </p:nvSpPr>
        <p:spPr>
          <a:xfrm>
            <a:off x="5501754" y="4563979"/>
            <a:ext cx="274320" cy="338145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2" name="Shape 108"/>
          <p:cNvSpPr/>
          <p:nvPr/>
        </p:nvSpPr>
        <p:spPr>
          <a:xfrm>
            <a:off x="5501754" y="4562930"/>
            <a:ext cx="274320" cy="1049"/>
          </a:xfrm>
          <a:prstGeom prst="rect">
            <a:avLst/>
          </a:prstGeom>
          <a:solidFill>
            <a:srgbClr val="D65C9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3" name="Shape 109"/>
          <p:cNvSpPr/>
          <p:nvPr/>
        </p:nvSpPr>
        <p:spPr>
          <a:xfrm>
            <a:off x="5501754" y="5548376"/>
            <a:ext cx="274320" cy="35420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4" name="Text 110"/>
          <p:cNvSpPr/>
          <p:nvPr/>
        </p:nvSpPr>
        <p:spPr>
          <a:xfrm>
            <a:off x="5318874" y="434347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</a:t>
            </a:r>
            <a:endParaRPr lang="en-US" sz="1000" dirty="0"/>
          </a:p>
        </p:txBody>
      </p:sp>
      <p:sp>
        <p:nvSpPr>
          <p:cNvPr id="115" name="Text 111"/>
          <p:cNvSpPr/>
          <p:nvPr/>
        </p:nvSpPr>
        <p:spPr>
          <a:xfrm>
            <a:off x="5181981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Июн</a:t>
            </a:r>
            <a:endParaRPr lang="en-US" sz="1100" dirty="0"/>
          </a:p>
        </p:txBody>
      </p:sp>
      <p:sp>
        <p:nvSpPr>
          <p:cNvPr id="116" name="Text 112"/>
          <p:cNvSpPr/>
          <p:nvPr/>
        </p:nvSpPr>
        <p:spPr>
          <a:xfrm>
            <a:off x="5181981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27,7 %</a:t>
            </a:r>
            <a:endParaRPr lang="en-US" sz="950" dirty="0"/>
          </a:p>
        </p:txBody>
      </p:sp>
      <p:sp>
        <p:nvSpPr>
          <p:cNvPr id="117" name="Shape 113">
            <a:hlinkClick r:id="rId4" action="ppaction://hlinksldjump"/>
          </p:cNvPr>
          <p:cNvSpPr/>
          <p:nvPr/>
        </p:nvSpPr>
        <p:spPr>
          <a:xfrm>
            <a:off x="5181981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8" name="Shape 114"/>
          <p:cNvSpPr/>
          <p:nvPr/>
        </p:nvSpPr>
        <p:spPr>
          <a:xfrm>
            <a:off x="6415621" y="5015112"/>
            <a:ext cx="274320" cy="533264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9" name="Shape 115"/>
          <p:cNvSpPr/>
          <p:nvPr/>
        </p:nvSpPr>
        <p:spPr>
          <a:xfrm>
            <a:off x="6415621" y="4888274"/>
            <a:ext cx="274320" cy="126838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0" name="Shape 116"/>
          <p:cNvSpPr/>
          <p:nvPr/>
        </p:nvSpPr>
        <p:spPr>
          <a:xfrm>
            <a:off x="6415621" y="4844896"/>
            <a:ext cx="274320" cy="43378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1" name="Shape 117"/>
          <p:cNvSpPr/>
          <p:nvPr/>
        </p:nvSpPr>
        <p:spPr>
          <a:xfrm>
            <a:off x="6415621" y="4800999"/>
            <a:ext cx="274320" cy="43896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2" name="Shape 118"/>
          <p:cNvSpPr/>
          <p:nvPr/>
        </p:nvSpPr>
        <p:spPr>
          <a:xfrm>
            <a:off x="6415621" y="4274834"/>
            <a:ext cx="274320" cy="526165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3" name="Shape 119"/>
          <p:cNvSpPr/>
          <p:nvPr/>
        </p:nvSpPr>
        <p:spPr>
          <a:xfrm>
            <a:off x="6415621" y="4266522"/>
            <a:ext cx="274320" cy="8312"/>
          </a:xfrm>
          <a:prstGeom prst="rect">
            <a:avLst/>
          </a:prstGeom>
          <a:solidFill>
            <a:srgbClr val="7B5C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4" name="Shape 120"/>
          <p:cNvSpPr/>
          <p:nvPr/>
        </p:nvSpPr>
        <p:spPr>
          <a:xfrm>
            <a:off x="6415621" y="4263719"/>
            <a:ext cx="274320" cy="2803"/>
          </a:xfrm>
          <a:prstGeom prst="rect">
            <a:avLst/>
          </a:prstGeom>
          <a:solidFill>
            <a:srgbClr val="D65C9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5" name="Shape 121"/>
          <p:cNvSpPr/>
          <p:nvPr/>
        </p:nvSpPr>
        <p:spPr>
          <a:xfrm>
            <a:off x="6415621" y="5548376"/>
            <a:ext cx="274320" cy="3867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6" name="Text 122"/>
          <p:cNvSpPr/>
          <p:nvPr/>
        </p:nvSpPr>
        <p:spPr>
          <a:xfrm>
            <a:off x="6232741" y="4044263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</a:t>
            </a:r>
            <a:endParaRPr lang="en-US" sz="1000" dirty="0"/>
          </a:p>
        </p:txBody>
      </p:sp>
      <p:sp>
        <p:nvSpPr>
          <p:cNvPr id="127" name="Text 123"/>
          <p:cNvSpPr/>
          <p:nvPr/>
        </p:nvSpPr>
        <p:spPr>
          <a:xfrm>
            <a:off x="6095848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</a:t>
            </a:r>
            <a:endParaRPr lang="en-US" sz="1100" dirty="0"/>
          </a:p>
        </p:txBody>
      </p:sp>
      <p:sp>
        <p:nvSpPr>
          <p:cNvPr id="128" name="Text 124"/>
          <p:cNvSpPr/>
          <p:nvPr/>
        </p:nvSpPr>
        <p:spPr>
          <a:xfrm>
            <a:off x="6095848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34,8 %</a:t>
            </a:r>
            <a:endParaRPr lang="en-US" sz="950" dirty="0"/>
          </a:p>
        </p:txBody>
      </p:sp>
      <p:sp>
        <p:nvSpPr>
          <p:cNvPr id="129" name="Shape 125">
            <a:hlinkClick r:id="rId4" action="ppaction://hlinksldjump"/>
          </p:cNvPr>
          <p:cNvSpPr/>
          <p:nvPr/>
        </p:nvSpPr>
        <p:spPr>
          <a:xfrm>
            <a:off x="6095848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0" name="Shape 126"/>
          <p:cNvSpPr/>
          <p:nvPr/>
        </p:nvSpPr>
        <p:spPr>
          <a:xfrm>
            <a:off x="7329488" y="4868630"/>
            <a:ext cx="274320" cy="67974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1" name="Shape 127"/>
          <p:cNvSpPr/>
          <p:nvPr/>
        </p:nvSpPr>
        <p:spPr>
          <a:xfrm>
            <a:off x="7329488" y="4741412"/>
            <a:ext cx="274320" cy="127218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2" name="Shape 128"/>
          <p:cNvSpPr/>
          <p:nvPr/>
        </p:nvSpPr>
        <p:spPr>
          <a:xfrm>
            <a:off x="7329488" y="4702434"/>
            <a:ext cx="274320" cy="38978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3" name="Shape 129"/>
          <p:cNvSpPr/>
          <p:nvPr/>
        </p:nvSpPr>
        <p:spPr>
          <a:xfrm>
            <a:off x="7329488" y="4662974"/>
            <a:ext cx="274320" cy="39459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4" name="Shape 130"/>
          <p:cNvSpPr/>
          <p:nvPr/>
        </p:nvSpPr>
        <p:spPr>
          <a:xfrm>
            <a:off x="7329488" y="4208797"/>
            <a:ext cx="274320" cy="454177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5" name="Shape 131"/>
          <p:cNvSpPr/>
          <p:nvPr/>
        </p:nvSpPr>
        <p:spPr>
          <a:xfrm>
            <a:off x="7329488" y="4206952"/>
            <a:ext cx="274320" cy="1845"/>
          </a:xfrm>
          <a:prstGeom prst="rect">
            <a:avLst/>
          </a:prstGeom>
          <a:solidFill>
            <a:srgbClr val="7B5CD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6" name="Shape 132"/>
          <p:cNvSpPr/>
          <p:nvPr/>
        </p:nvSpPr>
        <p:spPr>
          <a:xfrm>
            <a:off x="7329488" y="4205850"/>
            <a:ext cx="274320" cy="1101"/>
          </a:xfrm>
          <a:prstGeom prst="rect">
            <a:avLst/>
          </a:prstGeom>
          <a:solidFill>
            <a:srgbClr val="D65C9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7" name="Shape 133"/>
          <p:cNvSpPr/>
          <p:nvPr/>
        </p:nvSpPr>
        <p:spPr>
          <a:xfrm>
            <a:off x="7329488" y="5548376"/>
            <a:ext cx="274320" cy="58455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8" name="Text 134"/>
          <p:cNvSpPr/>
          <p:nvPr/>
        </p:nvSpPr>
        <p:spPr>
          <a:xfrm>
            <a:off x="7146608" y="398639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</a:t>
            </a:r>
            <a:endParaRPr lang="en-US" sz="1000" dirty="0"/>
          </a:p>
        </p:txBody>
      </p:sp>
      <p:sp>
        <p:nvSpPr>
          <p:cNvPr id="139" name="Text 135"/>
          <p:cNvSpPr/>
          <p:nvPr/>
        </p:nvSpPr>
        <p:spPr>
          <a:xfrm>
            <a:off x="7009714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</a:t>
            </a:r>
            <a:endParaRPr lang="en-US" sz="1100" dirty="0"/>
          </a:p>
        </p:txBody>
      </p:sp>
      <p:sp>
        <p:nvSpPr>
          <p:cNvPr id="140" name="Text 136"/>
          <p:cNvSpPr/>
          <p:nvPr/>
        </p:nvSpPr>
        <p:spPr>
          <a:xfrm>
            <a:off x="7009714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0,3 %</a:t>
            </a:r>
            <a:endParaRPr lang="en-US" sz="950" dirty="0"/>
          </a:p>
        </p:txBody>
      </p:sp>
      <p:sp>
        <p:nvSpPr>
          <p:cNvPr id="141" name="Shape 137">
            <a:hlinkClick r:id="rId4" action="ppaction://hlinksldjump"/>
          </p:cNvPr>
          <p:cNvSpPr/>
          <p:nvPr/>
        </p:nvSpPr>
        <p:spPr>
          <a:xfrm>
            <a:off x="7009714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2" name="Shape 138"/>
          <p:cNvSpPr/>
          <p:nvPr/>
        </p:nvSpPr>
        <p:spPr>
          <a:xfrm>
            <a:off x="8069618" y="4687752"/>
            <a:ext cx="274320" cy="860624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3" name="Shape 139"/>
          <p:cNvSpPr/>
          <p:nvPr/>
        </p:nvSpPr>
        <p:spPr>
          <a:xfrm>
            <a:off x="8069618" y="4574765"/>
            <a:ext cx="274320" cy="112987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4" name="Shape 140"/>
          <p:cNvSpPr/>
          <p:nvPr/>
        </p:nvSpPr>
        <p:spPr>
          <a:xfrm>
            <a:off x="8069618" y="4530576"/>
            <a:ext cx="274320" cy="44189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5" name="Shape 141"/>
          <p:cNvSpPr/>
          <p:nvPr/>
        </p:nvSpPr>
        <p:spPr>
          <a:xfrm>
            <a:off x="8069618" y="4484758"/>
            <a:ext cx="274320" cy="45818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6" name="Shape 142"/>
          <p:cNvSpPr/>
          <p:nvPr/>
        </p:nvSpPr>
        <p:spPr>
          <a:xfrm>
            <a:off x="8069618" y="3806255"/>
            <a:ext cx="274320" cy="678503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7" name="Shape 143"/>
          <p:cNvSpPr/>
          <p:nvPr/>
        </p:nvSpPr>
        <p:spPr>
          <a:xfrm>
            <a:off x="8069618" y="3805691"/>
            <a:ext cx="274320" cy="564"/>
          </a:xfrm>
          <a:prstGeom prst="rect">
            <a:avLst/>
          </a:prstGeom>
          <a:solidFill>
            <a:srgbClr val="D65C9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8" name="Shape 144"/>
          <p:cNvSpPr/>
          <p:nvPr/>
        </p:nvSpPr>
        <p:spPr>
          <a:xfrm>
            <a:off x="8069618" y="5548376"/>
            <a:ext cx="274320" cy="202787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9" name="Shape 145"/>
          <p:cNvSpPr/>
          <p:nvPr/>
        </p:nvSpPr>
        <p:spPr>
          <a:xfrm>
            <a:off x="8417090" y="4144171"/>
            <a:ext cx="274320" cy="1404205"/>
          </a:xfrm>
          <a:prstGeom prst="rect">
            <a:avLst/>
          </a:prstGeom>
          <a:pattFill prst="wdUpDiag">
            <a:fgClr>
              <a:srgbClr val="B4BED2"/>
            </a:fgClr>
            <a:bgClr>
              <a:srgbClr val="FFFFFF"/>
            </a:bgClr>
          </a:pattFill>
          <a:ln w="6350">
            <a:solidFill>
              <a:srgbClr val="B4BE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0" name="Text 146"/>
          <p:cNvSpPr/>
          <p:nvPr/>
        </p:nvSpPr>
        <p:spPr>
          <a:xfrm>
            <a:off x="7886738" y="3586235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</a:t>
            </a:r>
            <a:endParaRPr lang="en-US" sz="900" dirty="0"/>
          </a:p>
        </p:txBody>
      </p:sp>
      <p:sp>
        <p:nvSpPr>
          <p:cNvPr id="151" name="Text 147"/>
          <p:cNvSpPr/>
          <p:nvPr/>
        </p:nvSpPr>
        <p:spPr>
          <a:xfrm>
            <a:off x="8234210" y="3924715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</a:t>
            </a:r>
            <a:endParaRPr lang="en-US" sz="900" dirty="0"/>
          </a:p>
        </p:txBody>
      </p:sp>
      <p:sp>
        <p:nvSpPr>
          <p:cNvPr id="152" name="Text 148"/>
          <p:cNvSpPr/>
          <p:nvPr/>
        </p:nvSpPr>
        <p:spPr>
          <a:xfrm>
            <a:off x="7923581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Сен*</a:t>
            </a:r>
            <a:endParaRPr lang="en-US" sz="1100" dirty="0"/>
          </a:p>
        </p:txBody>
      </p:sp>
      <p:sp>
        <p:nvSpPr>
          <p:cNvPr id="153" name="Text 149"/>
          <p:cNvSpPr/>
          <p:nvPr/>
        </p:nvSpPr>
        <p:spPr>
          <a:xfrm>
            <a:off x="7923581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19,9 %</a:t>
            </a:r>
            <a:endParaRPr lang="en-US" sz="950" dirty="0"/>
          </a:p>
        </p:txBody>
      </p:sp>
      <p:sp>
        <p:nvSpPr>
          <p:cNvPr id="154" name="Shape 150">
            <a:hlinkClick r:id="rId4" action="ppaction://hlinksldjump"/>
          </p:cNvPr>
          <p:cNvSpPr/>
          <p:nvPr/>
        </p:nvSpPr>
        <p:spPr>
          <a:xfrm>
            <a:off x="7923581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5" name="Shape 151"/>
          <p:cNvSpPr/>
          <p:nvPr/>
        </p:nvSpPr>
        <p:spPr>
          <a:xfrm>
            <a:off x="8983485" y="5392369"/>
            <a:ext cx="274320" cy="156007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6" name="Shape 152"/>
          <p:cNvSpPr/>
          <p:nvPr/>
        </p:nvSpPr>
        <p:spPr>
          <a:xfrm>
            <a:off x="8983485" y="5369625"/>
            <a:ext cx="274320" cy="22744"/>
          </a:xfrm>
          <a:prstGeom prst="rect">
            <a:avLst/>
          </a:prstGeom>
          <a:solidFill>
            <a:srgbClr val="0B2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7" name="Shape 153"/>
          <p:cNvSpPr/>
          <p:nvPr/>
        </p:nvSpPr>
        <p:spPr>
          <a:xfrm>
            <a:off x="8983485" y="5363231"/>
            <a:ext cx="274320" cy="6394"/>
          </a:xfrm>
          <a:prstGeom prst="rect">
            <a:avLst/>
          </a:prstGeom>
          <a:solidFill>
            <a:srgbClr val="9AAE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8" name="Shape 154"/>
          <p:cNvSpPr/>
          <p:nvPr/>
        </p:nvSpPr>
        <p:spPr>
          <a:xfrm>
            <a:off x="8983485" y="5358104"/>
            <a:ext cx="274320" cy="5127"/>
          </a:xfrm>
          <a:prstGeom prst="rect">
            <a:avLst/>
          </a:prstGeom>
          <a:solidFill>
            <a:srgbClr val="F2A2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9" name="Shape 155"/>
          <p:cNvSpPr/>
          <p:nvPr/>
        </p:nvSpPr>
        <p:spPr>
          <a:xfrm>
            <a:off x="8983485" y="5287469"/>
            <a:ext cx="274320" cy="70636"/>
          </a:xfrm>
          <a:prstGeom prst="rect">
            <a:avLst/>
          </a:prstGeom>
          <a:solidFill>
            <a:srgbClr val="2FA3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0" name="Shape 156"/>
          <p:cNvSpPr/>
          <p:nvPr/>
        </p:nvSpPr>
        <p:spPr>
          <a:xfrm>
            <a:off x="8983485" y="3945877"/>
            <a:ext cx="274320" cy="1341591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61" name="Shape 157"/>
          <p:cNvSpPr/>
          <p:nvPr/>
        </p:nvSpPr>
        <p:spPr>
          <a:xfrm>
            <a:off x="8983485" y="5548376"/>
            <a:ext cx="274320" cy="57716"/>
          </a:xfrm>
          <a:prstGeom prst="rect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2" name="Shape 158"/>
          <p:cNvSpPr/>
          <p:nvPr/>
        </p:nvSpPr>
        <p:spPr>
          <a:xfrm>
            <a:off x="8983485" y="5606092"/>
            <a:ext cx="274320" cy="149307"/>
          </a:xfrm>
          <a:prstGeom prst="rect">
            <a:avLst/>
          </a:prstGeom>
          <a:pattFill prst="wdUpDiag">
            <a:fgClr>
              <a:srgbClr val="8A94A6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63" name="Shape 159"/>
          <p:cNvSpPr/>
          <p:nvPr/>
        </p:nvSpPr>
        <p:spPr>
          <a:xfrm>
            <a:off x="9330957" y="4061198"/>
            <a:ext cx="274320" cy="1487178"/>
          </a:xfrm>
          <a:prstGeom prst="rect">
            <a:avLst/>
          </a:prstGeom>
          <a:pattFill prst="wdUpDiag">
            <a:fgClr>
              <a:srgbClr val="B4BED2"/>
            </a:fgClr>
            <a:bgClr>
              <a:srgbClr val="FFFFFF"/>
            </a:bgClr>
          </a:pattFill>
          <a:ln w="6350">
            <a:solidFill>
              <a:srgbClr val="B4BE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4" name="Text 160"/>
          <p:cNvSpPr/>
          <p:nvPr/>
        </p:nvSpPr>
        <p:spPr>
          <a:xfrm>
            <a:off x="8800605" y="3726421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</a:t>
            </a:r>
            <a:endParaRPr lang="en-US" sz="900" dirty="0"/>
          </a:p>
        </p:txBody>
      </p:sp>
      <p:sp>
        <p:nvSpPr>
          <p:cNvPr id="165" name="Text 161"/>
          <p:cNvSpPr/>
          <p:nvPr/>
        </p:nvSpPr>
        <p:spPr>
          <a:xfrm>
            <a:off x="9148077" y="384174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</a:t>
            </a:r>
            <a:endParaRPr lang="en-US" sz="900" dirty="0"/>
          </a:p>
        </p:txBody>
      </p:sp>
      <p:sp>
        <p:nvSpPr>
          <p:cNvPr id="166" name="Text 162"/>
          <p:cNvSpPr/>
          <p:nvPr/>
        </p:nvSpPr>
        <p:spPr>
          <a:xfrm>
            <a:off x="8837447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</a:t>
            </a:r>
            <a:endParaRPr lang="en-US" sz="1100" dirty="0"/>
          </a:p>
        </p:txBody>
      </p:sp>
      <p:sp>
        <p:nvSpPr>
          <p:cNvPr id="167" name="Text 163"/>
          <p:cNvSpPr/>
          <p:nvPr/>
        </p:nvSpPr>
        <p:spPr>
          <a:xfrm>
            <a:off x="8837447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9,4 %</a:t>
            </a:r>
            <a:endParaRPr lang="en-US" sz="950" dirty="0"/>
          </a:p>
        </p:txBody>
      </p:sp>
      <p:sp>
        <p:nvSpPr>
          <p:cNvPr id="168" name="Shape 164">
            <a:hlinkClick r:id="rId4" action="ppaction://hlinksldjump"/>
          </p:cNvPr>
          <p:cNvSpPr/>
          <p:nvPr/>
        </p:nvSpPr>
        <p:spPr>
          <a:xfrm>
            <a:off x="8837447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9" name="Shape 165"/>
          <p:cNvSpPr/>
          <p:nvPr/>
        </p:nvSpPr>
        <p:spPr>
          <a:xfrm>
            <a:off x="9897351" y="4575758"/>
            <a:ext cx="274320" cy="972618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70" name="Shape 166"/>
          <p:cNvSpPr/>
          <p:nvPr/>
        </p:nvSpPr>
        <p:spPr>
          <a:xfrm>
            <a:off x="9897351" y="4479016"/>
            <a:ext cx="274320" cy="96742"/>
          </a:xfrm>
          <a:prstGeom prst="rect">
            <a:avLst/>
          </a:prstGeom>
          <a:pattFill prst="wdUpDiag">
            <a:fgClr>
              <a:srgbClr val="F2A23A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71" name="Shape 167"/>
          <p:cNvSpPr/>
          <p:nvPr/>
        </p:nvSpPr>
        <p:spPr>
          <a:xfrm>
            <a:off x="9897351" y="4081222"/>
            <a:ext cx="274320" cy="397794"/>
          </a:xfrm>
          <a:prstGeom prst="rect">
            <a:avLst/>
          </a:prstGeom>
          <a:pattFill prst="wdUpDiag">
            <a:fgClr>
              <a:srgbClr val="2FA37A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72" name="Shape 168"/>
          <p:cNvSpPr/>
          <p:nvPr/>
        </p:nvSpPr>
        <p:spPr>
          <a:xfrm>
            <a:off x="9897351" y="3977381"/>
            <a:ext cx="274320" cy="103841"/>
          </a:xfrm>
          <a:prstGeom prst="rect">
            <a:avLst/>
          </a:prstGeom>
          <a:pattFill prst="wdUpDiag">
            <a:fgClr>
              <a:srgbClr val="7B5CD6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73" name="Shape 169"/>
          <p:cNvSpPr/>
          <p:nvPr/>
        </p:nvSpPr>
        <p:spPr>
          <a:xfrm>
            <a:off x="9897351" y="3966004"/>
            <a:ext cx="274320" cy="11377"/>
          </a:xfrm>
          <a:prstGeom prst="rect">
            <a:avLst/>
          </a:prstGeom>
          <a:pattFill prst="wdUpDiag">
            <a:fgClr>
              <a:srgbClr val="D65C9E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74" name="Shape 170"/>
          <p:cNvSpPr/>
          <p:nvPr/>
        </p:nvSpPr>
        <p:spPr>
          <a:xfrm>
            <a:off x="10244823" y="3966004"/>
            <a:ext cx="274320" cy="1582372"/>
          </a:xfrm>
          <a:prstGeom prst="rect">
            <a:avLst/>
          </a:prstGeom>
          <a:pattFill prst="wdUpDiag">
            <a:fgClr>
              <a:srgbClr val="B4BED2"/>
            </a:fgClr>
            <a:bgClr>
              <a:srgbClr val="FFFFFF"/>
            </a:bgClr>
          </a:pattFill>
          <a:ln w="6350">
            <a:solidFill>
              <a:srgbClr val="B4BE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5" name="Text 171"/>
          <p:cNvSpPr/>
          <p:nvPr/>
        </p:nvSpPr>
        <p:spPr>
          <a:xfrm>
            <a:off x="9714471" y="37465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</a:t>
            </a:r>
            <a:endParaRPr lang="en-US" sz="900" dirty="0"/>
          </a:p>
        </p:txBody>
      </p:sp>
      <p:sp>
        <p:nvSpPr>
          <p:cNvPr id="176" name="Text 172"/>
          <p:cNvSpPr/>
          <p:nvPr/>
        </p:nvSpPr>
        <p:spPr>
          <a:xfrm>
            <a:off x="10061943" y="37465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</a:t>
            </a:r>
            <a:endParaRPr lang="en-US" sz="900" dirty="0"/>
          </a:p>
        </p:txBody>
      </p:sp>
      <p:sp>
        <p:nvSpPr>
          <p:cNvPr id="177" name="Text 173"/>
          <p:cNvSpPr/>
          <p:nvPr/>
        </p:nvSpPr>
        <p:spPr>
          <a:xfrm>
            <a:off x="9751314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</a:t>
            </a:r>
            <a:endParaRPr lang="en-US" sz="1100" dirty="0"/>
          </a:p>
        </p:txBody>
      </p:sp>
      <p:sp>
        <p:nvSpPr>
          <p:cNvPr id="178" name="Text 174"/>
          <p:cNvSpPr/>
          <p:nvPr/>
        </p:nvSpPr>
        <p:spPr>
          <a:xfrm>
            <a:off x="9751314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13,4 %</a:t>
            </a:r>
            <a:endParaRPr lang="en-US" sz="950" dirty="0"/>
          </a:p>
        </p:txBody>
      </p:sp>
      <p:sp>
        <p:nvSpPr>
          <p:cNvPr id="179" name="Shape 175">
            <a:hlinkClick r:id="rId4" action="ppaction://hlinksldjump"/>
          </p:cNvPr>
          <p:cNvSpPr/>
          <p:nvPr/>
        </p:nvSpPr>
        <p:spPr>
          <a:xfrm>
            <a:off x="9751314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0" name="Shape 176"/>
          <p:cNvSpPr/>
          <p:nvPr/>
        </p:nvSpPr>
        <p:spPr>
          <a:xfrm>
            <a:off x="10811218" y="4527127"/>
            <a:ext cx="274320" cy="1021249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81" name="Shape 177"/>
          <p:cNvSpPr/>
          <p:nvPr/>
        </p:nvSpPr>
        <p:spPr>
          <a:xfrm>
            <a:off x="10811218" y="4415308"/>
            <a:ext cx="274320" cy="111819"/>
          </a:xfrm>
          <a:prstGeom prst="rect">
            <a:avLst/>
          </a:prstGeom>
          <a:pattFill prst="wdUpDiag">
            <a:fgClr>
              <a:srgbClr val="F2A23A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82" name="Shape 178"/>
          <p:cNvSpPr/>
          <p:nvPr/>
        </p:nvSpPr>
        <p:spPr>
          <a:xfrm>
            <a:off x="10811218" y="4013536"/>
            <a:ext cx="274320" cy="401772"/>
          </a:xfrm>
          <a:prstGeom prst="rect">
            <a:avLst/>
          </a:prstGeom>
          <a:pattFill prst="wdUpDiag">
            <a:fgClr>
              <a:srgbClr val="2FA37A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83" name="Shape 179"/>
          <p:cNvSpPr/>
          <p:nvPr/>
        </p:nvSpPr>
        <p:spPr>
          <a:xfrm>
            <a:off x="10811218" y="3903704"/>
            <a:ext cx="274320" cy="109833"/>
          </a:xfrm>
          <a:prstGeom prst="rect">
            <a:avLst/>
          </a:prstGeom>
          <a:pattFill prst="wdUpDiag">
            <a:fgClr>
              <a:srgbClr val="7B5CD6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84" name="Shape 180"/>
          <p:cNvSpPr/>
          <p:nvPr/>
        </p:nvSpPr>
        <p:spPr>
          <a:xfrm>
            <a:off x="10811218" y="3888026"/>
            <a:ext cx="274320" cy="15677"/>
          </a:xfrm>
          <a:prstGeom prst="rect">
            <a:avLst/>
          </a:prstGeom>
          <a:pattFill prst="wdUpDiag">
            <a:fgClr>
              <a:srgbClr val="D65C9E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85" name="Shape 181"/>
          <p:cNvSpPr/>
          <p:nvPr/>
        </p:nvSpPr>
        <p:spPr>
          <a:xfrm>
            <a:off x="11158690" y="3888026"/>
            <a:ext cx="274320" cy="1660350"/>
          </a:xfrm>
          <a:prstGeom prst="rect">
            <a:avLst/>
          </a:prstGeom>
          <a:pattFill prst="wdUpDiag">
            <a:fgClr>
              <a:srgbClr val="B4BED2"/>
            </a:fgClr>
            <a:bgClr>
              <a:srgbClr val="FFFFFF"/>
            </a:bgClr>
          </a:pattFill>
          <a:ln w="6350">
            <a:solidFill>
              <a:srgbClr val="B4BE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6" name="Text 182"/>
          <p:cNvSpPr/>
          <p:nvPr/>
        </p:nvSpPr>
        <p:spPr>
          <a:xfrm>
            <a:off x="10628338" y="366857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</a:t>
            </a:r>
            <a:endParaRPr lang="en-US" sz="900" dirty="0"/>
          </a:p>
        </p:txBody>
      </p:sp>
      <p:sp>
        <p:nvSpPr>
          <p:cNvPr id="187" name="Text 183"/>
          <p:cNvSpPr/>
          <p:nvPr/>
        </p:nvSpPr>
        <p:spPr>
          <a:xfrm>
            <a:off x="10975810" y="366857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</a:t>
            </a:r>
            <a:endParaRPr lang="en-US" sz="900" dirty="0"/>
          </a:p>
        </p:txBody>
      </p:sp>
      <p:sp>
        <p:nvSpPr>
          <p:cNvPr id="188" name="Text 184"/>
          <p:cNvSpPr/>
          <p:nvPr/>
        </p:nvSpPr>
        <p:spPr>
          <a:xfrm>
            <a:off x="10665181" y="5852160"/>
            <a:ext cx="9138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</a:t>
            </a:r>
            <a:endParaRPr lang="en-US" sz="1100" dirty="0"/>
          </a:p>
        </p:txBody>
      </p:sp>
      <p:sp>
        <p:nvSpPr>
          <p:cNvPr id="189" name="Text 185"/>
          <p:cNvSpPr/>
          <p:nvPr/>
        </p:nvSpPr>
        <p:spPr>
          <a:xfrm>
            <a:off x="10665181" y="6089904"/>
            <a:ext cx="9138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4,9 %</a:t>
            </a:r>
            <a:endParaRPr lang="en-US" sz="950" dirty="0"/>
          </a:p>
        </p:txBody>
      </p:sp>
      <p:sp>
        <p:nvSpPr>
          <p:cNvPr id="190" name="Shape 186">
            <a:hlinkClick r:id="rId4" action="ppaction://hlinksldjump"/>
          </p:cNvPr>
          <p:cNvSpPr/>
          <p:nvPr/>
        </p:nvSpPr>
        <p:spPr>
          <a:xfrm>
            <a:off x="10665181" y="3703320"/>
            <a:ext cx="913867" cy="2606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1" name="Text 187"/>
          <p:cNvSpPr/>
          <p:nvPr/>
        </p:nvSpPr>
        <p:spPr>
          <a:xfrm>
            <a:off x="612648" y="6327648"/>
            <a:ext cx="10966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сентябрь — предварительно, до закрытия в RE · млн сом · под месяцами — прирост к предыдущему месяцу · план по всем направлениям есть с сентября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3124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Сентябрь: выручка, план и факт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Факт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Выполнение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9 681 450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8 828 336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Промо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5 410 808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4 689 899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Бизнес аккаунты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710 355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615 711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Публикации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277 820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240 805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Отчёты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288 062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458 461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Кредиты MBANK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4 265 795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2 312 490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Лизинг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481 698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Страхование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29 273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>
            <a:hlinkClick r:id="rId3" action="ppaction://hlinksldjump"/>
          </p:cNvPr>
          <p:cNvSpPr/>
          <p:nvPr/>
        </p:nvSpPr>
        <p:spPr>
          <a:xfrm>
            <a:off x="548640" y="19659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4">
            <a:hlinkClick r:id="rId3" action="ppaction://hlinksldjump"/>
          </p:cNvPr>
          <p:cNvSpPr/>
          <p:nvPr/>
        </p:nvSpPr>
        <p:spPr>
          <a:xfrm>
            <a:off x="548640" y="23317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3" action="ppaction://hlinksldjump"/>
          </p:cNvPr>
          <p:cNvSpPr/>
          <p:nvPr/>
        </p:nvSpPr>
        <p:spPr>
          <a:xfrm>
            <a:off x="548640" y="26974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3" action="ppaction://hlinksldjump"/>
          </p:cNvPr>
          <p:cNvSpPr/>
          <p:nvPr/>
        </p:nvSpPr>
        <p:spPr>
          <a:xfrm>
            <a:off x="548640" y="306324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3" action="ppaction://hlinksldjump"/>
          </p:cNvPr>
          <p:cNvSpPr/>
          <p:nvPr/>
        </p:nvSpPr>
        <p:spPr>
          <a:xfrm>
            <a:off x="548640" y="342900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>
            <a:hlinkClick r:id="rId3" action="ppaction://hlinksldjump"/>
          </p:cNvPr>
          <p:cNvSpPr/>
          <p:nvPr/>
        </p:nvSpPr>
        <p:spPr>
          <a:xfrm>
            <a:off x="548640" y="37947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>
            <a:hlinkClick r:id="rId3" action="ppaction://hlinksldjump"/>
          </p:cNvPr>
          <p:cNvSpPr/>
          <p:nvPr/>
        </p:nvSpPr>
        <p:spPr>
          <a:xfrm>
            <a:off x="548640" y="41605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>
            <a:hlinkClick r:id="rId3" action="ppaction://hlinksldjump"/>
          </p:cNvPr>
          <p:cNvSpPr/>
          <p:nvPr/>
        </p:nvSpPr>
        <p:spPr>
          <a:xfrm>
            <a:off x="548640" y="45262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 txBox="1"/>
          <p:nvPr/>
        </p:nvSpPr>
        <p:spPr>
          <a:xfrm>
            <a:off x="7040880" y="16002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плана, %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040880" y="1965960"/>
          <a:ext cx="4602175" cy="3236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4546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Октябрь: выручка, план и прогноз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на 31 октября · данные на 5 октября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33528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Прогнозное выполнение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9 349 996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8 773 460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Промо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4 929 191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5 544 524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Бизнес аккаунты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636 917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716 427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Публикации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257 627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289 788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Отчёты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508 737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332 911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Кредиты MBANK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2 428 114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2 986 056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Лизинг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538 163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200 000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Страхование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51 246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4">
            <a:hlinkClick r:id="rId3" action="ppaction://hlinksldjump" tooltip="Финансовый скрин Mashina.kg на 05.10.2026&#10;Расчёт: Прогноз 8 773 460 / план 9 349 996 = 93.8%"/>
          </p:cNvPr>
          <p:cNvSpPr/>
          <p:nvPr/>
        </p:nvSpPr>
        <p:spPr>
          <a:xfrm>
            <a:off x="548640" y="19659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3" action="ppaction://hlinksldjump" tooltip="Финансовый скрин Mashina.kg на 05.10.2026&#10;Расчёт: Прогноз 5 544 524 / план 4 929 191 = 112.5%"/>
          </p:cNvPr>
          <p:cNvSpPr/>
          <p:nvPr/>
        </p:nvSpPr>
        <p:spPr>
          <a:xfrm>
            <a:off x="548640" y="23317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3" action="ppaction://hlinksldjump" tooltip="Финансовый скрин Mashina.kg на 05.10.2026&#10;Расчёт: Прогноз 716 427 / план 636 917 = 112.5%"/>
          </p:cNvPr>
          <p:cNvSpPr/>
          <p:nvPr/>
        </p:nvSpPr>
        <p:spPr>
          <a:xfrm>
            <a:off x="548640" y="26974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3" action="ppaction://hlinksldjump" tooltip="Финансовый скрин Mashina.kg на 05.10.2026&#10;Расчёт: Прогноз 289 788 / план 257 627 = 112.5%"/>
          </p:cNvPr>
          <p:cNvSpPr/>
          <p:nvPr/>
        </p:nvSpPr>
        <p:spPr>
          <a:xfrm>
            <a:off x="548640" y="306324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>
            <a:hlinkClick r:id="rId3" action="ppaction://hlinksldjump" tooltip="Финансовый скрин Mashina.kg на 05.10.2026&#10;Расчёт: Прогноз 332 911 / план 508 737 = 65.4%"/>
          </p:cNvPr>
          <p:cNvSpPr/>
          <p:nvPr/>
        </p:nvSpPr>
        <p:spPr>
          <a:xfrm>
            <a:off x="548640" y="342900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>
            <a:hlinkClick r:id="rId3" action="ppaction://hlinksldjump" tooltip="Финансовый скрин Mashina.kg на 05.10.2026&#10;Расчёт: Прогноз 2 986 056 / план 2 428 114 = 123.0%"/>
          </p:cNvPr>
          <p:cNvSpPr/>
          <p:nvPr/>
        </p:nvSpPr>
        <p:spPr>
          <a:xfrm>
            <a:off x="548640" y="37947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>
            <a:hlinkClick r:id="rId3" action="ppaction://hlinksldjump" tooltip="Финансовый скрин Mashina.kg на 05.10.2026&#10;Расчёт: Прогноз 200 000 / план 538 163 = 37.2%"/>
          </p:cNvPr>
          <p:cNvSpPr/>
          <p:nvPr/>
        </p:nvSpPr>
        <p:spPr>
          <a:xfrm>
            <a:off x="548640" y="41605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>
            <a:hlinkClick r:id="rId3" action="ppaction://hlinksldjump" tooltip="Финансовый скрин Mashina.kg на 05.10.2026&#10;Расчёт: Прогноз 5 320 / план 51 246 = 10.4%"/>
          </p:cNvPr>
          <p:cNvSpPr/>
          <p:nvPr/>
        </p:nvSpPr>
        <p:spPr>
          <a:xfrm>
            <a:off x="548640" y="45262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 txBox="1"/>
          <p:nvPr/>
        </p:nvSpPr>
        <p:spPr>
          <a:xfrm>
            <a:off x="7040880" y="16002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Прогнозное выполнение плана, %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040880" y="1965960"/>
          <a:ext cx="4602175" cy="3236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12648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pic>
        <p:nvPicPr>
          <p:cNvPr id="4" name="Image 0" descr="C:\Users\ueabq\OneDrive\Документы\ChatGPT\Mashina.kg\tmp\monthly_wbr_layout\logos\ppt\media\image-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57" y="329184"/>
            <a:ext cx="186309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" y="713232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Продуктовые метрики: </a:t>
            </a:r>
            <a:r>
              <a:rPr lang="en-US" sz="2400" b="1" dirty="0">
                <a:solidFill>
                  <a:srgbClr val="7A8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MPAU — 80 % плана Q3, ARPPU — 140 %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12648" y="13167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Квартал — среднее по закрытым месяцам, как в KPI; октябрь — прогноз на конец месяца по факту 1–5.10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8790127" y="1371600"/>
            <a:ext cx="128016" cy="12801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8991295" y="13167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9567367" y="1371600"/>
            <a:ext cx="128016" cy="128016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9768535" y="13167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0527487" y="1421892"/>
            <a:ext cx="201168" cy="27432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10801807" y="13167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месяца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" y="1691640"/>
            <a:ext cx="2618156" cy="4617720"/>
          </a:xfrm>
          <a:prstGeom prst="roundRect">
            <a:avLst>
              <a:gd name="adj" fmla="val 349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795528" y="1801368"/>
            <a:ext cx="2252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MPAU, платящих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95528" y="2057400"/>
            <a:ext cx="22523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Paying Active Users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95528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Q3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95528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6 243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546327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Q3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546327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7 820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2297125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конец года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297125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9 384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795528" y="2990088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79,8 % плана квартала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9929" y="3945413"/>
            <a:ext cx="138898" cy="1925035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1"/>
          <p:cNvSpPr/>
          <p:nvPr/>
        </p:nvSpPr>
        <p:spPr>
          <a:xfrm>
            <a:off x="819929" y="3682701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2"/>
          <p:cNvSpPr/>
          <p:nvPr/>
        </p:nvSpPr>
        <p:spPr>
          <a:xfrm>
            <a:off x="1007629" y="3939342"/>
            <a:ext cx="138898" cy="193110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1007629" y="3865738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4"/>
          <p:cNvSpPr/>
          <p:nvPr/>
        </p:nvSpPr>
        <p:spPr>
          <a:xfrm>
            <a:off x="1195328" y="3828036"/>
            <a:ext cx="138898" cy="204241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5"/>
          <p:cNvSpPr/>
          <p:nvPr/>
        </p:nvSpPr>
        <p:spPr>
          <a:xfrm>
            <a:off x="1195328" y="4033259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6"/>
          <p:cNvSpPr/>
          <p:nvPr/>
        </p:nvSpPr>
        <p:spPr>
          <a:xfrm>
            <a:off x="1383028" y="3851196"/>
            <a:ext cx="138898" cy="201925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7"/>
          <p:cNvSpPr/>
          <p:nvPr/>
        </p:nvSpPr>
        <p:spPr>
          <a:xfrm>
            <a:off x="1383028" y="4323105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28"/>
          <p:cNvSpPr/>
          <p:nvPr/>
        </p:nvSpPr>
        <p:spPr>
          <a:xfrm>
            <a:off x="1570728" y="4428190"/>
            <a:ext cx="138898" cy="1442258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29"/>
          <p:cNvSpPr/>
          <p:nvPr/>
        </p:nvSpPr>
        <p:spPr>
          <a:xfrm>
            <a:off x="1570728" y="4323105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0"/>
          <p:cNvSpPr/>
          <p:nvPr/>
        </p:nvSpPr>
        <p:spPr>
          <a:xfrm>
            <a:off x="1758427" y="4708591"/>
            <a:ext cx="138898" cy="1161857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1"/>
          <p:cNvSpPr/>
          <p:nvPr/>
        </p:nvSpPr>
        <p:spPr>
          <a:xfrm>
            <a:off x="1758427" y="4323105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2"/>
          <p:cNvSpPr/>
          <p:nvPr/>
        </p:nvSpPr>
        <p:spPr>
          <a:xfrm>
            <a:off x="1946127" y="4635062"/>
            <a:ext cx="138898" cy="123538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3"/>
          <p:cNvSpPr/>
          <p:nvPr/>
        </p:nvSpPr>
        <p:spPr>
          <a:xfrm>
            <a:off x="1946127" y="4174922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Shape 34"/>
          <p:cNvSpPr/>
          <p:nvPr/>
        </p:nvSpPr>
        <p:spPr>
          <a:xfrm>
            <a:off x="2133827" y="4528028"/>
            <a:ext cx="138898" cy="134242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Shape 35"/>
          <p:cNvSpPr/>
          <p:nvPr/>
        </p:nvSpPr>
        <p:spPr>
          <a:xfrm>
            <a:off x="2133827" y="4095096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Shape 36"/>
          <p:cNvSpPr/>
          <p:nvPr/>
        </p:nvSpPr>
        <p:spPr>
          <a:xfrm>
            <a:off x="2321526" y="4236608"/>
            <a:ext cx="138898" cy="163384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Shape 37"/>
          <p:cNvSpPr/>
          <p:nvPr/>
        </p:nvSpPr>
        <p:spPr>
          <a:xfrm>
            <a:off x="2321526" y="4011223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8"/>
          <p:cNvSpPr/>
          <p:nvPr/>
        </p:nvSpPr>
        <p:spPr>
          <a:xfrm>
            <a:off x="1937478" y="3791767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7 266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509226" y="4016919"/>
            <a:ext cx="138898" cy="1853529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Shape 40"/>
          <p:cNvSpPr/>
          <p:nvPr/>
        </p:nvSpPr>
        <p:spPr>
          <a:xfrm>
            <a:off x="2509226" y="3786587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1"/>
          <p:cNvSpPr/>
          <p:nvPr/>
        </p:nvSpPr>
        <p:spPr>
          <a:xfrm>
            <a:off x="2344634" y="3567131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8 243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2696925" y="3742289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Shape 43"/>
          <p:cNvSpPr/>
          <p:nvPr/>
        </p:nvSpPr>
        <p:spPr>
          <a:xfrm>
            <a:off x="2884625" y="3697092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Text 44"/>
          <p:cNvSpPr/>
          <p:nvPr/>
        </p:nvSpPr>
        <p:spPr>
          <a:xfrm>
            <a:off x="795528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2499284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</a:t>
            </a:r>
            <a:endParaRPr lang="en-US" sz="1000" dirty="0"/>
          </a:p>
        </p:txBody>
      </p:sp>
      <p:sp>
        <p:nvSpPr>
          <p:cNvPr id="50" name="Shape 46">
            <a:hlinkClick r:id="rId4" tooltip="Redash, дашборд 78, запрос 619: уникальные пользователи со списанием за месяц. План — мануал «Продуктовый WBR», KPI-скоркарта. Прогноз октября: 1 698 × 7 267 / 1 497 = 8 243"/>
          </p:cNvPr>
          <p:cNvSpPr/>
          <p:nvPr/>
        </p:nvSpPr>
        <p:spPr>
          <a:xfrm>
            <a:off x="612648" y="1691640"/>
            <a:ext cx="2618156" cy="46177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Shape 47"/>
          <p:cNvSpPr/>
          <p:nvPr/>
        </p:nvSpPr>
        <p:spPr>
          <a:xfrm>
            <a:off x="3395396" y="1691640"/>
            <a:ext cx="2618156" cy="4617720"/>
          </a:xfrm>
          <a:prstGeom prst="roundRect">
            <a:avLst>
              <a:gd name="adj" fmla="val 349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48"/>
          <p:cNvSpPr/>
          <p:nvPr/>
        </p:nvSpPr>
        <p:spPr>
          <a:xfrm>
            <a:off x="3578276" y="1801368"/>
            <a:ext cx="2252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ARPPU, сом</a:t>
            </a:r>
            <a:endParaRPr lang="en-US" sz="1300" dirty="0"/>
          </a:p>
        </p:txBody>
      </p:sp>
      <p:sp>
        <p:nvSpPr>
          <p:cNvPr id="53" name="Text 49"/>
          <p:cNvSpPr/>
          <p:nvPr/>
        </p:nvSpPr>
        <p:spPr>
          <a:xfrm>
            <a:off x="3578276" y="2057400"/>
            <a:ext cx="22523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Per Paying User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3578276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Q3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3578276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902</a:t>
            </a:r>
            <a:endParaRPr lang="en-US" sz="1800" dirty="0"/>
          </a:p>
        </p:txBody>
      </p:sp>
      <p:sp>
        <p:nvSpPr>
          <p:cNvPr id="56" name="Text 52"/>
          <p:cNvSpPr/>
          <p:nvPr/>
        </p:nvSpPr>
        <p:spPr>
          <a:xfrm>
            <a:off x="4329074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Q3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4329074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646</a:t>
            </a:r>
            <a:endParaRPr lang="en-US" sz="1800" dirty="0"/>
          </a:p>
        </p:txBody>
      </p:sp>
      <p:sp>
        <p:nvSpPr>
          <p:cNvPr id="58" name="Text 54"/>
          <p:cNvSpPr/>
          <p:nvPr/>
        </p:nvSpPr>
        <p:spPr>
          <a:xfrm>
            <a:off x="5079873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конец года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5079873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652</a:t>
            </a:r>
            <a:endParaRPr lang="en-US" sz="1800" dirty="0"/>
          </a:p>
        </p:txBody>
      </p:sp>
      <p:sp>
        <p:nvSpPr>
          <p:cNvPr id="60" name="Text 56"/>
          <p:cNvSpPr/>
          <p:nvPr/>
        </p:nvSpPr>
        <p:spPr>
          <a:xfrm>
            <a:off x="3578276" y="2990088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140 % плана квартала</a:t>
            </a:r>
            <a:endParaRPr lang="en-US" sz="1100" dirty="0"/>
          </a:p>
        </p:txBody>
      </p:sp>
      <p:sp>
        <p:nvSpPr>
          <p:cNvPr id="61" name="Shape 57"/>
          <p:cNvSpPr/>
          <p:nvPr/>
        </p:nvSpPr>
        <p:spPr>
          <a:xfrm>
            <a:off x="3602677" y="4420263"/>
            <a:ext cx="138898" cy="1450185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2" name="Shape 58"/>
          <p:cNvSpPr/>
          <p:nvPr/>
        </p:nvSpPr>
        <p:spPr>
          <a:xfrm>
            <a:off x="3602677" y="4462496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3" name="Shape 59"/>
          <p:cNvSpPr/>
          <p:nvPr/>
        </p:nvSpPr>
        <p:spPr>
          <a:xfrm>
            <a:off x="3790376" y="4487767"/>
            <a:ext cx="138898" cy="1382681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Shape 60"/>
          <p:cNvSpPr/>
          <p:nvPr/>
        </p:nvSpPr>
        <p:spPr>
          <a:xfrm>
            <a:off x="3790376" y="4422924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5" name="Shape 61"/>
          <p:cNvSpPr/>
          <p:nvPr/>
        </p:nvSpPr>
        <p:spPr>
          <a:xfrm>
            <a:off x="3978076" y="4273615"/>
            <a:ext cx="138898" cy="1596833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6" name="Shape 62"/>
          <p:cNvSpPr/>
          <p:nvPr/>
        </p:nvSpPr>
        <p:spPr>
          <a:xfrm>
            <a:off x="3978076" y="4378697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7" name="Shape 63"/>
          <p:cNvSpPr/>
          <p:nvPr/>
        </p:nvSpPr>
        <p:spPr>
          <a:xfrm>
            <a:off x="4165776" y="4313186"/>
            <a:ext cx="138898" cy="155726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8" name="Shape 64"/>
          <p:cNvSpPr/>
          <p:nvPr/>
        </p:nvSpPr>
        <p:spPr>
          <a:xfrm>
            <a:off x="4165776" y="4290243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9" name="Shape 65"/>
          <p:cNvSpPr/>
          <p:nvPr/>
        </p:nvSpPr>
        <p:spPr>
          <a:xfrm>
            <a:off x="4353475" y="4231715"/>
            <a:ext cx="138898" cy="1638733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0" name="Shape 66"/>
          <p:cNvSpPr/>
          <p:nvPr/>
        </p:nvSpPr>
        <p:spPr>
          <a:xfrm>
            <a:off x="4353475" y="4290243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1" name="Shape 67"/>
          <p:cNvSpPr/>
          <p:nvPr/>
        </p:nvSpPr>
        <p:spPr>
          <a:xfrm>
            <a:off x="4541175" y="4040840"/>
            <a:ext cx="138898" cy="1829608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2" name="Shape 68"/>
          <p:cNvSpPr/>
          <p:nvPr/>
        </p:nvSpPr>
        <p:spPr>
          <a:xfrm>
            <a:off x="4541175" y="4290243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3" name="Shape 69"/>
          <p:cNvSpPr/>
          <p:nvPr/>
        </p:nvSpPr>
        <p:spPr>
          <a:xfrm>
            <a:off x="4728875" y="3880226"/>
            <a:ext cx="138898" cy="199022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4" name="Shape 70"/>
          <p:cNvSpPr/>
          <p:nvPr/>
        </p:nvSpPr>
        <p:spPr>
          <a:xfrm>
            <a:off x="4728875" y="4348436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5" name="Shape 71"/>
          <p:cNvSpPr/>
          <p:nvPr/>
        </p:nvSpPr>
        <p:spPr>
          <a:xfrm>
            <a:off x="4916574" y="3700989"/>
            <a:ext cx="138898" cy="2169459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6" name="Shape 72"/>
          <p:cNvSpPr/>
          <p:nvPr/>
        </p:nvSpPr>
        <p:spPr>
          <a:xfrm>
            <a:off x="4916574" y="4348436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7" name="Shape 73"/>
          <p:cNvSpPr/>
          <p:nvPr/>
        </p:nvSpPr>
        <p:spPr>
          <a:xfrm>
            <a:off x="5104274" y="3728922"/>
            <a:ext cx="138898" cy="214152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8" name="Shape 74"/>
          <p:cNvSpPr/>
          <p:nvPr/>
        </p:nvSpPr>
        <p:spPr>
          <a:xfrm>
            <a:off x="5104274" y="4348436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9" name="Text 75"/>
          <p:cNvSpPr/>
          <p:nvPr/>
        </p:nvSpPr>
        <p:spPr>
          <a:xfrm>
            <a:off x="4720226" y="3491178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920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5291974" y="3926780"/>
            <a:ext cx="138898" cy="1943668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81" name="Shape 77"/>
          <p:cNvSpPr/>
          <p:nvPr/>
        </p:nvSpPr>
        <p:spPr>
          <a:xfrm>
            <a:off x="5291974" y="4334470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2" name="Text 78"/>
          <p:cNvSpPr/>
          <p:nvPr/>
        </p:nvSpPr>
        <p:spPr>
          <a:xfrm>
            <a:off x="5127382" y="3689036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</a:t>
            </a:r>
            <a:endParaRPr lang="en-US" sz="850" dirty="0"/>
          </a:p>
        </p:txBody>
      </p:sp>
      <p:sp>
        <p:nvSpPr>
          <p:cNvPr id="83" name="Shape 79"/>
          <p:cNvSpPr/>
          <p:nvPr/>
        </p:nvSpPr>
        <p:spPr>
          <a:xfrm>
            <a:off x="5479673" y="4334470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4" name="Shape 80"/>
          <p:cNvSpPr/>
          <p:nvPr/>
        </p:nvSpPr>
        <p:spPr>
          <a:xfrm>
            <a:off x="5667373" y="4334470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5" name="Text 81"/>
          <p:cNvSpPr/>
          <p:nvPr/>
        </p:nvSpPr>
        <p:spPr>
          <a:xfrm>
            <a:off x="3578276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</a:t>
            </a:r>
            <a:endParaRPr lang="en-US" sz="1000" dirty="0"/>
          </a:p>
        </p:txBody>
      </p:sp>
      <p:sp>
        <p:nvSpPr>
          <p:cNvPr id="86" name="Text 82"/>
          <p:cNvSpPr/>
          <p:nvPr/>
        </p:nvSpPr>
        <p:spPr>
          <a:xfrm>
            <a:off x="5282032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</a:t>
            </a:r>
            <a:endParaRPr lang="en-US" sz="1000" dirty="0"/>
          </a:p>
        </p:txBody>
      </p:sp>
      <p:sp>
        <p:nvSpPr>
          <p:cNvPr id="87" name="Shape 83">
            <a:hlinkClick r:id="rId5" tooltip="Сумма оплат на платящего: списания по четырём направлениям / MPAU. Сентябрь 6 687 045 / 7 266. Прогноз октября 6 883 650 / 8 243. План — мануал: в KPI ARPPU считается только по тарифам и промо"/>
          </p:cNvPr>
          <p:cNvSpPr/>
          <p:nvPr/>
        </p:nvSpPr>
        <p:spPr>
          <a:xfrm>
            <a:off x="3395396" y="1691640"/>
            <a:ext cx="2618156" cy="46177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8" name="Shape 84"/>
          <p:cNvSpPr/>
          <p:nvPr/>
        </p:nvSpPr>
        <p:spPr>
          <a:xfrm>
            <a:off x="6178144" y="1691640"/>
            <a:ext cx="2618156" cy="4617720"/>
          </a:xfrm>
          <a:prstGeom prst="roundRect">
            <a:avLst>
              <a:gd name="adj" fmla="val 349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9" name="Text 85"/>
          <p:cNvSpPr/>
          <p:nvPr/>
        </p:nvSpPr>
        <p:spPr>
          <a:xfrm>
            <a:off x="6361024" y="1801368"/>
            <a:ext cx="2252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MDAU, пополняющих</a:t>
            </a:r>
            <a:endParaRPr lang="en-US" sz="1300" dirty="0"/>
          </a:p>
        </p:txBody>
      </p:sp>
      <p:sp>
        <p:nvSpPr>
          <p:cNvPr id="90" name="Text 86"/>
          <p:cNvSpPr/>
          <p:nvPr/>
        </p:nvSpPr>
        <p:spPr>
          <a:xfrm>
            <a:off x="6361024" y="2057400"/>
            <a:ext cx="22523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Depositing Active Users</a:t>
            </a:r>
            <a:endParaRPr lang="en-US" sz="850" dirty="0"/>
          </a:p>
        </p:txBody>
      </p:sp>
      <p:sp>
        <p:nvSpPr>
          <p:cNvPr id="91" name="Text 87"/>
          <p:cNvSpPr/>
          <p:nvPr/>
        </p:nvSpPr>
        <p:spPr>
          <a:xfrm>
            <a:off x="6361024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Q3</a:t>
            </a:r>
            <a:endParaRPr lang="en-US" sz="950" dirty="0"/>
          </a:p>
        </p:txBody>
      </p:sp>
      <p:sp>
        <p:nvSpPr>
          <p:cNvPr id="92" name="Text 88"/>
          <p:cNvSpPr/>
          <p:nvPr/>
        </p:nvSpPr>
        <p:spPr>
          <a:xfrm>
            <a:off x="6361024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4 591</a:t>
            </a:r>
            <a:endParaRPr lang="en-US" sz="1800" dirty="0"/>
          </a:p>
        </p:txBody>
      </p:sp>
      <p:sp>
        <p:nvSpPr>
          <p:cNvPr id="93" name="Text 89"/>
          <p:cNvSpPr/>
          <p:nvPr/>
        </p:nvSpPr>
        <p:spPr>
          <a:xfrm>
            <a:off x="7111822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Q3</a:t>
            </a:r>
            <a:endParaRPr lang="en-US" sz="950" dirty="0"/>
          </a:p>
        </p:txBody>
      </p:sp>
      <p:sp>
        <p:nvSpPr>
          <p:cNvPr id="94" name="Text 90"/>
          <p:cNvSpPr/>
          <p:nvPr/>
        </p:nvSpPr>
        <p:spPr>
          <a:xfrm>
            <a:off x="7111822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4 321</a:t>
            </a:r>
            <a:endParaRPr lang="en-US" sz="1800" dirty="0"/>
          </a:p>
        </p:txBody>
      </p:sp>
      <p:sp>
        <p:nvSpPr>
          <p:cNvPr id="95" name="Text 91"/>
          <p:cNvSpPr/>
          <p:nvPr/>
        </p:nvSpPr>
        <p:spPr>
          <a:xfrm>
            <a:off x="7862621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конец года</a:t>
            </a:r>
            <a:endParaRPr lang="en-US" sz="950" dirty="0"/>
          </a:p>
        </p:txBody>
      </p:sp>
      <p:sp>
        <p:nvSpPr>
          <p:cNvPr id="96" name="Text 92"/>
          <p:cNvSpPr/>
          <p:nvPr/>
        </p:nvSpPr>
        <p:spPr>
          <a:xfrm>
            <a:off x="7862621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5 174</a:t>
            </a:r>
            <a:endParaRPr lang="en-US" sz="1800" dirty="0"/>
          </a:p>
        </p:txBody>
      </p:sp>
      <p:sp>
        <p:nvSpPr>
          <p:cNvPr id="97" name="Text 93"/>
          <p:cNvSpPr/>
          <p:nvPr/>
        </p:nvSpPr>
        <p:spPr>
          <a:xfrm>
            <a:off x="6361024" y="2990088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106 % плана квартала</a:t>
            </a:r>
            <a:endParaRPr lang="en-US" sz="1100" dirty="0"/>
          </a:p>
        </p:txBody>
      </p:sp>
      <p:sp>
        <p:nvSpPr>
          <p:cNvPr id="98" name="Shape 94"/>
          <p:cNvSpPr/>
          <p:nvPr/>
        </p:nvSpPr>
        <p:spPr>
          <a:xfrm>
            <a:off x="6385425" y="3807000"/>
            <a:ext cx="138898" cy="2063448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9" name="Shape 95"/>
          <p:cNvSpPr/>
          <p:nvPr/>
        </p:nvSpPr>
        <p:spPr>
          <a:xfrm>
            <a:off x="6573124" y="3923047"/>
            <a:ext cx="138898" cy="1947401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0" name="Shape 96"/>
          <p:cNvSpPr/>
          <p:nvPr/>
        </p:nvSpPr>
        <p:spPr>
          <a:xfrm>
            <a:off x="6760824" y="3700989"/>
            <a:ext cx="138898" cy="2169459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1" name="Shape 97"/>
          <p:cNvSpPr/>
          <p:nvPr/>
        </p:nvSpPr>
        <p:spPr>
          <a:xfrm>
            <a:off x="6948524" y="3820800"/>
            <a:ext cx="138898" cy="2049648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2" name="Shape 98"/>
          <p:cNvSpPr/>
          <p:nvPr/>
        </p:nvSpPr>
        <p:spPr>
          <a:xfrm>
            <a:off x="7136223" y="4383787"/>
            <a:ext cx="138898" cy="1486661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3" name="Shape 99"/>
          <p:cNvSpPr/>
          <p:nvPr/>
        </p:nvSpPr>
        <p:spPr>
          <a:xfrm>
            <a:off x="7323923" y="4594868"/>
            <a:ext cx="138898" cy="127558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4" name="Shape 100"/>
          <p:cNvSpPr/>
          <p:nvPr/>
        </p:nvSpPr>
        <p:spPr>
          <a:xfrm>
            <a:off x="7511622" y="4404487"/>
            <a:ext cx="138898" cy="1465961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5" name="Shape 101"/>
          <p:cNvSpPr/>
          <p:nvPr/>
        </p:nvSpPr>
        <p:spPr>
          <a:xfrm>
            <a:off x="7511622" y="4665654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6" name="Shape 102"/>
          <p:cNvSpPr/>
          <p:nvPr/>
        </p:nvSpPr>
        <p:spPr>
          <a:xfrm>
            <a:off x="7699322" y="4409819"/>
            <a:ext cx="138898" cy="1460629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7" name="Shape 103"/>
          <p:cNvSpPr/>
          <p:nvPr/>
        </p:nvSpPr>
        <p:spPr>
          <a:xfrm>
            <a:off x="7699322" y="4474333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8" name="Shape 104"/>
          <p:cNvSpPr/>
          <p:nvPr/>
        </p:nvSpPr>
        <p:spPr>
          <a:xfrm>
            <a:off x="7887022" y="4477252"/>
            <a:ext cx="138898" cy="139319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9" name="Shape 105"/>
          <p:cNvSpPr/>
          <p:nvPr/>
        </p:nvSpPr>
        <p:spPr>
          <a:xfrm>
            <a:off x="7887022" y="4350758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0" name="Text 106"/>
          <p:cNvSpPr/>
          <p:nvPr/>
        </p:nvSpPr>
        <p:spPr>
          <a:xfrm>
            <a:off x="7502974" y="4131302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4 442</a:t>
            </a:r>
            <a:endParaRPr lang="en-US" sz="850" dirty="0"/>
          </a:p>
        </p:txBody>
      </p:sp>
      <p:sp>
        <p:nvSpPr>
          <p:cNvPr id="111" name="Shape 107"/>
          <p:cNvSpPr/>
          <p:nvPr/>
        </p:nvSpPr>
        <p:spPr>
          <a:xfrm>
            <a:off x="8074721" y="4388805"/>
            <a:ext cx="138898" cy="1481643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12" name="Shape 108"/>
          <p:cNvSpPr/>
          <p:nvPr/>
        </p:nvSpPr>
        <p:spPr>
          <a:xfrm>
            <a:off x="8074721" y="4283325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3" name="Text 109"/>
          <p:cNvSpPr/>
          <p:nvPr/>
        </p:nvSpPr>
        <p:spPr>
          <a:xfrm>
            <a:off x="7910129" y="4063869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4 724</a:t>
            </a:r>
            <a:endParaRPr lang="en-US" sz="850" dirty="0"/>
          </a:p>
        </p:txBody>
      </p:sp>
      <p:sp>
        <p:nvSpPr>
          <p:cNvPr id="114" name="Shape 110"/>
          <p:cNvSpPr/>
          <p:nvPr/>
        </p:nvSpPr>
        <p:spPr>
          <a:xfrm>
            <a:off x="8262421" y="4241297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5" name="Shape 111"/>
          <p:cNvSpPr/>
          <p:nvPr/>
        </p:nvSpPr>
        <p:spPr>
          <a:xfrm>
            <a:off x="8450121" y="4163514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6" name="Text 112"/>
          <p:cNvSpPr/>
          <p:nvPr/>
        </p:nvSpPr>
        <p:spPr>
          <a:xfrm>
            <a:off x="6361024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</a:t>
            </a:r>
            <a:endParaRPr lang="en-US" sz="1000" dirty="0"/>
          </a:p>
        </p:txBody>
      </p:sp>
      <p:sp>
        <p:nvSpPr>
          <p:cNvPr id="117" name="Text 113"/>
          <p:cNvSpPr/>
          <p:nvPr/>
        </p:nvSpPr>
        <p:spPr>
          <a:xfrm>
            <a:off x="8064779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</a:t>
            </a:r>
            <a:endParaRPr lang="en-US" sz="1000" dirty="0"/>
          </a:p>
        </p:txBody>
      </p:sp>
      <p:sp>
        <p:nvSpPr>
          <p:cNvPr id="118" name="Shape 114">
            <a:hlinkClick r:id="rId6" tooltip="Redash, дашборд 78, запрос 618: уникальные пользователи с пополнением за месяц. Прогноз октября: 855 × 4 442 / 804 = 4 724. План расчётный: план пополнений (выручка classified из мануала) / план суммы на пополняющего"/>
          </p:cNvPr>
          <p:cNvSpPr/>
          <p:nvPr/>
        </p:nvSpPr>
        <p:spPr>
          <a:xfrm>
            <a:off x="6178144" y="1691640"/>
            <a:ext cx="2618156" cy="46177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9" name="Shape 115"/>
          <p:cNvSpPr/>
          <p:nvPr/>
        </p:nvSpPr>
        <p:spPr>
          <a:xfrm>
            <a:off x="8960891" y="1691640"/>
            <a:ext cx="2618156" cy="4617720"/>
          </a:xfrm>
          <a:prstGeom prst="roundRect">
            <a:avLst>
              <a:gd name="adj" fmla="val 3493"/>
            </a:avLst>
          </a:prstGeom>
          <a:solidFill>
            <a:srgbClr val="F4F6FB"/>
          </a:solidFill>
          <a:ln w="9525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0" name="Text 116"/>
          <p:cNvSpPr/>
          <p:nvPr/>
        </p:nvSpPr>
        <p:spPr>
          <a:xfrm>
            <a:off x="9143771" y="1801368"/>
            <a:ext cx="22523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ARPDU, сом</a:t>
            </a:r>
            <a:endParaRPr lang="en-US" sz="1300" dirty="0"/>
          </a:p>
        </p:txBody>
      </p:sp>
      <p:sp>
        <p:nvSpPr>
          <p:cNvPr id="121" name="Text 117"/>
          <p:cNvSpPr/>
          <p:nvPr/>
        </p:nvSpPr>
        <p:spPr>
          <a:xfrm>
            <a:off x="9143771" y="2057400"/>
            <a:ext cx="22523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Per Depositing User</a:t>
            </a:r>
            <a:endParaRPr lang="en-US" sz="850" dirty="0"/>
          </a:p>
        </p:txBody>
      </p:sp>
      <p:sp>
        <p:nvSpPr>
          <p:cNvPr id="122" name="Text 118"/>
          <p:cNvSpPr/>
          <p:nvPr/>
        </p:nvSpPr>
        <p:spPr>
          <a:xfrm>
            <a:off x="9143771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Q3</a:t>
            </a:r>
            <a:endParaRPr lang="en-US" sz="950" dirty="0"/>
          </a:p>
        </p:txBody>
      </p:sp>
      <p:sp>
        <p:nvSpPr>
          <p:cNvPr id="123" name="Text 119"/>
          <p:cNvSpPr/>
          <p:nvPr/>
        </p:nvSpPr>
        <p:spPr>
          <a:xfrm>
            <a:off x="9143771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1 115</a:t>
            </a:r>
            <a:endParaRPr lang="en-US" sz="1800" dirty="0"/>
          </a:p>
        </p:txBody>
      </p:sp>
      <p:sp>
        <p:nvSpPr>
          <p:cNvPr id="124" name="Text 120"/>
          <p:cNvSpPr/>
          <p:nvPr/>
        </p:nvSpPr>
        <p:spPr>
          <a:xfrm>
            <a:off x="9894570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Q3</a:t>
            </a:r>
            <a:endParaRPr lang="en-US" sz="950" dirty="0"/>
          </a:p>
        </p:txBody>
      </p:sp>
      <p:sp>
        <p:nvSpPr>
          <p:cNvPr id="125" name="Text 121"/>
          <p:cNvSpPr/>
          <p:nvPr/>
        </p:nvSpPr>
        <p:spPr>
          <a:xfrm>
            <a:off x="9894570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1 261</a:t>
            </a:r>
            <a:endParaRPr lang="en-US" sz="1800" dirty="0"/>
          </a:p>
        </p:txBody>
      </p:sp>
      <p:sp>
        <p:nvSpPr>
          <p:cNvPr id="126" name="Text 122"/>
          <p:cNvSpPr/>
          <p:nvPr/>
        </p:nvSpPr>
        <p:spPr>
          <a:xfrm>
            <a:off x="10645369" y="2203704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конец года</a:t>
            </a:r>
            <a:endParaRPr lang="en-US" sz="950" dirty="0"/>
          </a:p>
        </p:txBody>
      </p:sp>
      <p:sp>
        <p:nvSpPr>
          <p:cNvPr id="127" name="Text 123"/>
          <p:cNvSpPr/>
          <p:nvPr/>
        </p:nvSpPr>
        <p:spPr>
          <a:xfrm>
            <a:off x="10645369" y="2560320"/>
            <a:ext cx="7050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1 299</a:t>
            </a:r>
            <a:endParaRPr lang="en-US" sz="1800" dirty="0"/>
          </a:p>
        </p:txBody>
      </p:sp>
      <p:sp>
        <p:nvSpPr>
          <p:cNvPr id="128" name="Text 124"/>
          <p:cNvSpPr/>
          <p:nvPr/>
        </p:nvSpPr>
        <p:spPr>
          <a:xfrm>
            <a:off x="9143771" y="2990088"/>
            <a:ext cx="2252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88,4 % плана квартала</a:t>
            </a:r>
            <a:endParaRPr lang="en-US" sz="1100" dirty="0"/>
          </a:p>
        </p:txBody>
      </p:sp>
      <p:sp>
        <p:nvSpPr>
          <p:cNvPr id="129" name="Shape 125"/>
          <p:cNvSpPr/>
          <p:nvPr/>
        </p:nvSpPr>
        <p:spPr>
          <a:xfrm>
            <a:off x="9168172" y="4578284"/>
            <a:ext cx="138898" cy="1292164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0" name="Shape 126"/>
          <p:cNvSpPr/>
          <p:nvPr/>
        </p:nvSpPr>
        <p:spPr>
          <a:xfrm>
            <a:off x="9355872" y="4537288"/>
            <a:ext cx="138898" cy="1333160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1" name="Shape 127"/>
          <p:cNvSpPr/>
          <p:nvPr/>
        </p:nvSpPr>
        <p:spPr>
          <a:xfrm>
            <a:off x="9543572" y="4425782"/>
            <a:ext cx="138898" cy="1444666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2" name="Shape 128"/>
          <p:cNvSpPr/>
          <p:nvPr/>
        </p:nvSpPr>
        <p:spPr>
          <a:xfrm>
            <a:off x="9731271" y="4404464"/>
            <a:ext cx="138898" cy="1465984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3" name="Shape 129"/>
          <p:cNvSpPr/>
          <p:nvPr/>
        </p:nvSpPr>
        <p:spPr>
          <a:xfrm>
            <a:off x="9918971" y="4452019"/>
            <a:ext cx="138898" cy="1418429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4" name="Shape 130"/>
          <p:cNvSpPr/>
          <p:nvPr/>
        </p:nvSpPr>
        <p:spPr>
          <a:xfrm>
            <a:off x="10106671" y="4319195"/>
            <a:ext cx="138898" cy="1551253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5" name="Shape 131"/>
          <p:cNvSpPr/>
          <p:nvPr/>
        </p:nvSpPr>
        <p:spPr>
          <a:xfrm>
            <a:off x="10294370" y="4224086"/>
            <a:ext cx="138898" cy="1646362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6" name="Shape 132"/>
          <p:cNvSpPr/>
          <p:nvPr/>
        </p:nvSpPr>
        <p:spPr>
          <a:xfrm>
            <a:off x="10294370" y="3784369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7" name="Shape 133"/>
          <p:cNvSpPr/>
          <p:nvPr/>
        </p:nvSpPr>
        <p:spPr>
          <a:xfrm>
            <a:off x="10482070" y="4037149"/>
            <a:ext cx="138898" cy="1833299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8" name="Shape 134"/>
          <p:cNvSpPr/>
          <p:nvPr/>
        </p:nvSpPr>
        <p:spPr>
          <a:xfrm>
            <a:off x="10482070" y="3784369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9" name="Shape 135"/>
          <p:cNvSpPr/>
          <p:nvPr/>
        </p:nvSpPr>
        <p:spPr>
          <a:xfrm>
            <a:off x="10669770" y="3866609"/>
            <a:ext cx="138898" cy="2003839"/>
          </a:xfrm>
          <a:prstGeom prst="rect">
            <a:avLst/>
          </a:prstGeom>
          <a:solidFill>
            <a:srgbClr val="2F6DB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0" name="Shape 136"/>
          <p:cNvSpPr/>
          <p:nvPr/>
        </p:nvSpPr>
        <p:spPr>
          <a:xfrm>
            <a:off x="10669770" y="3784369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1" name="Text 137"/>
          <p:cNvSpPr/>
          <p:nvPr/>
        </p:nvSpPr>
        <p:spPr>
          <a:xfrm>
            <a:off x="10285722" y="3564913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1 222</a:t>
            </a:r>
            <a:endParaRPr lang="en-US" sz="850" dirty="0"/>
          </a:p>
        </p:txBody>
      </p:sp>
      <p:sp>
        <p:nvSpPr>
          <p:cNvPr id="142" name="Shape 138"/>
          <p:cNvSpPr/>
          <p:nvPr/>
        </p:nvSpPr>
        <p:spPr>
          <a:xfrm>
            <a:off x="10857469" y="3945320"/>
            <a:ext cx="138898" cy="1925128"/>
          </a:xfrm>
          <a:prstGeom prst="rect">
            <a:avLst/>
          </a:prstGeom>
          <a:pattFill prst="wdUpDiag">
            <a:fgClr>
              <a:srgbClr val="2F6DB5"/>
            </a:fgClr>
            <a:bgClr>
              <a:srgbClr val="FFFFFF"/>
            </a:bgClr>
          </a:pattFill>
          <a:ln/>
        </p:spPr>
        <p:txBody>
          <a:bodyPr/>
          <a:lstStyle/>
          <a:p>
            <a:endParaRPr lang="ru-RU"/>
          </a:p>
        </p:txBody>
      </p:sp>
      <p:sp>
        <p:nvSpPr>
          <p:cNvPr id="143" name="Shape 139"/>
          <p:cNvSpPr/>
          <p:nvPr/>
        </p:nvSpPr>
        <p:spPr>
          <a:xfrm>
            <a:off x="10857469" y="3776170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4" name="Text 140"/>
          <p:cNvSpPr/>
          <p:nvPr/>
        </p:nvSpPr>
        <p:spPr>
          <a:xfrm>
            <a:off x="10692877" y="3556714"/>
            <a:ext cx="6875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1 174</a:t>
            </a:r>
            <a:endParaRPr lang="en-US" sz="850" dirty="0"/>
          </a:p>
        </p:txBody>
      </p:sp>
      <p:sp>
        <p:nvSpPr>
          <p:cNvPr id="145" name="Shape 141"/>
          <p:cNvSpPr/>
          <p:nvPr/>
        </p:nvSpPr>
        <p:spPr>
          <a:xfrm>
            <a:off x="11045169" y="3705658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6" name="Shape 142"/>
          <p:cNvSpPr/>
          <p:nvPr/>
        </p:nvSpPr>
        <p:spPr>
          <a:xfrm>
            <a:off x="11232869" y="3682701"/>
            <a:ext cx="138898" cy="36576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7" name="Text 143"/>
          <p:cNvSpPr/>
          <p:nvPr/>
        </p:nvSpPr>
        <p:spPr>
          <a:xfrm>
            <a:off x="9143771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</a:t>
            </a:r>
            <a:endParaRPr lang="en-US" sz="1000" dirty="0"/>
          </a:p>
        </p:txBody>
      </p:sp>
      <p:sp>
        <p:nvSpPr>
          <p:cNvPr id="148" name="Text 144"/>
          <p:cNvSpPr/>
          <p:nvPr/>
        </p:nvSpPr>
        <p:spPr>
          <a:xfrm>
            <a:off x="10847527" y="5943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</a:t>
            </a:r>
            <a:endParaRPr lang="en-US" sz="1000" dirty="0"/>
          </a:p>
        </p:txBody>
      </p:sp>
      <p:sp>
        <p:nvSpPr>
          <p:cNvPr id="149" name="Shape 145">
            <a:hlinkClick r:id="rId6" tooltip="Сумма пополнений / пополняющие за месяц. Сентябрь 5 429 478 / 4 442 = 1 222. Прогноз октября 1 174. План: сентябрь–декабрь — месячный отчёт от 30.09, июль–август — на уровне сентября; на конец года — среднее Q4"/>
          </p:cNvPr>
          <p:cNvSpPr/>
          <p:nvPr/>
        </p:nvSpPr>
        <p:spPr>
          <a:xfrm>
            <a:off x="8960891" y="1691640"/>
            <a:ext cx="2618156" cy="46177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41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Октябрь: показатели, план и прогноз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на 31 октября · факт для расчёта: 1–5 октября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1524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Прогнозное выполнение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Новые объявления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27 828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22 921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Пополнения,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6 332 472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5 167 006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16 376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14 142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>
            <a:hlinkClick r:id="rId3" tooltip="Дашборд: Mashina - Supply&#10;Блок: New Listings&#10;Отчёт: Total by seller type · mashina new listings seller type dwh summary&#10;Расчёт: легковые: частные 3 189, дилеры 508. Прогноз 3 697 / 5 × 31 = 22 921; план 27 828"/>
          </p:cNvPr>
          <p:cNvSpPr/>
          <p:nvPr/>
        </p:nvSpPr>
        <p:spPr>
          <a:xfrm>
            <a:off x="548640" y="19659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4" tooltip="Дашборд: Mashina - Deposits Revenue&#10;Блок: Deposits Daily&#10;Отчёт: Deposits Sum Revenue + MA(30d) · mashina cashin transactions ma30d daily&#10;Расчёт: sum_revenue за 1–5.10. Прогноз 833 388 / 5 × 31 = 5 167 006; в сентябре 5 429 478; план 6 332 472 — план выру…"/>
          </p:cNvPr>
          <p:cNvSpPr/>
          <p:nvPr/>
        </p:nvSpPr>
        <p:spPr>
          <a:xfrm>
            <a:off x="548640" y="23317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5" tooltip="Дашборд: Mashina - Supply&#10;Блок: New Listings&#10;Отчёт: New Users Daily · mashina new users by period daily&#10;Расчёт: new_users за 1–5.10. Прогноз 2 281 / 5 × 31 = 14 142; в сентябре 16 958; план 16 376 = план сентября 15 837 × план MAU 669 / 647"/>
          </p:cNvPr>
          <p:cNvSpPr/>
          <p:nvPr/>
        </p:nvSpPr>
        <p:spPr>
          <a:xfrm>
            <a:off x="548640" y="26974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 txBox="1"/>
          <p:nvPr/>
        </p:nvSpPr>
        <p:spPr>
          <a:xfrm>
            <a:off x="7040880" y="16002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Прогнозное выполнение плана, %</a:t>
            </a:r>
            <a:endParaRPr lang="en-US" sz="1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040880" y="1965960"/>
          <a:ext cx="4602175" cy="1408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19856"/>
          <a:ext cx="6217920" cy="26212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MDAU, пополняющие (Redash 78)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Сентябрь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 к сентябрю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MDAU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удержанные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1 016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новые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1 702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1 789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вернувшиеся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Удержание,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Регистрация → пополнение,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8">
            <a:hlinkClick r:id="rId7" tooltip="Дашборд: Mashina — Декомпозиция выручки&#10;Отчёт: Пополняющие: удержанные, новые, вернувшиеся&#10;Расчёт: 855 × 4 442 / 804 = 4 724"/>
          </p:cNvPr>
          <p:cNvSpPr/>
          <p:nvPr/>
        </p:nvSpPr>
        <p:spPr>
          <a:xfrm>
            <a:off x="548640" y="3785616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9">
            <a:hlinkClick r:id="rId7" tooltip="Дашборд: Mashina — Декомпозиция выручки&#10;Отчёт: Пополняющие: удержанные, новые, вернувшиеся&#10;Расчёт: пополняли и в сентябре. 291 × 1 016 / 264 = 1 120"/>
          </p:cNvPr>
          <p:cNvSpPr/>
          <p:nvPr/>
        </p:nvSpPr>
        <p:spPr>
          <a:xfrm>
            <a:off x="548640" y="4151376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0">
            <a:hlinkClick r:id="rId7" tooltip="Дашборд: Mashina — Декомпозиция выручки&#10;Отчёт: Пополняющие: удержанные, новые, вернувшиеся&#10;Расчёт: первое пополнение. 246 × 1 702 / 234 = 1 789"/>
          </p:cNvPr>
          <p:cNvSpPr/>
          <p:nvPr/>
        </p:nvSpPr>
        <p:spPr>
          <a:xfrm>
            <a:off x="548640" y="4517136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1">
            <a:hlinkClick r:id="rId7" tooltip="Дашборд: Mashina — Декомпозиция выручки&#10;Отчёт: Пополняющие: удержанные, новые, вернувшиеся&#10;Расчёт: пополняющие − удержанные − новые = 4 724 − 1 120 − 1 789 = 1 815"/>
          </p:cNvPr>
          <p:cNvSpPr/>
          <p:nvPr/>
        </p:nvSpPr>
        <p:spPr>
          <a:xfrm>
            <a:off x="548640" y="4882896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2">
            <a:hlinkClick r:id="rId7" tooltip="Дашборд: Mashina — Декомпозиция выручки&#10;Отчёт: Пополняющие: удержанные, новые, вернувшиеся&#10;Расчёт: удержанные / пополняющие прошлого месяца = 1 120 / 4 442; сентябрь 1 016 / 4 657"/>
          </p:cNvPr>
          <p:cNvSpPr/>
          <p:nvPr/>
        </p:nvSpPr>
        <p:spPr>
          <a:xfrm>
            <a:off x="548640" y="5248656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3">
            <a:hlinkClick r:id="rId8" tooltip="Дашборд: Mashina — Декомпозиция выручки&#10;Отчёт: Регистрации и конверсия в новых пополняющих&#10;Расчёт: новые / регистрации = 1 789 / 14 646; регистрации по профилю сентября: 2 281 × 16 958 / 2 641 = 14 646"/>
          </p:cNvPr>
          <p:cNvSpPr/>
          <p:nvPr/>
        </p:nvSpPr>
        <p:spPr>
          <a:xfrm>
            <a:off x="548640" y="5614416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4"/>
          <p:cNvSpPr txBox="1"/>
          <p:nvPr/>
        </p:nvSpPr>
        <p:spPr>
          <a:xfrm>
            <a:off x="7040880" y="3419856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к сентябрю, %</a:t>
            </a:r>
            <a:endParaRPr lang="en-US" sz="11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7040880" y="3785616"/>
          <a:ext cx="4602175" cy="2505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775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Октябрь: структура активных объявлений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авто, 5 октября к 30 сентября · 287 дилеров держат 36% объявлений · 47% объявлений старше 90 дней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251231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Объём, все авто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Объявления частников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40 167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40 609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+442 (+1,1%)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Объявления дилеров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22 909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23 242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+333 (+1,5%)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Продавцы-частники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32 715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33 068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+353 (+1,1%)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Продавцы-дилеры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 (+2,1%)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Объявлений на частника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+0,00 (+0,0%)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Объявлений на дилера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−0,5 (−0,7%)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>
            <a:hlinkClick r:id="rId3" tooltip="Дашборд: Mashina - Структура объявлений&#10;Блок: Active Ads&#10;Отчёт: mashina active ads daily&#10;Расчёт: активные объявления частников: легковые, коммерческие, спецтехника, мото"/>
          </p:cNvPr>
          <p:cNvSpPr/>
          <p:nvPr/>
        </p:nvSpPr>
        <p:spPr>
          <a:xfrm>
            <a:off x="548640" y="1959102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3" tooltip="Дашборд: Mashina - Структура объявлений&#10;Блок: Active Ads&#10;Отчёт: mashina active ads daily&#10;Расчёт: активные объявления дилеров: легковые, коммерческие, спецтехника, мото"/>
          </p:cNvPr>
          <p:cNvSpPr/>
          <p:nvPr/>
        </p:nvSpPr>
        <p:spPr>
          <a:xfrm>
            <a:off x="548640" y="2318004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3" tooltip="Дашборд: Mashina - Структура объявлений&#10;Блок: Active Ads&#10;Отчёт: mashina active ads daily&#10;Расчёт: уникальные частники с активным объявлением"/>
          </p:cNvPr>
          <p:cNvSpPr/>
          <p:nvPr/>
        </p:nvSpPr>
        <p:spPr>
          <a:xfrm>
            <a:off x="548640" y="2676906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3" tooltip="Дашборд: Mashina - Структура объявлений&#10;Блок: Active Ads&#10;Отчёт: mashina active ads daily&#10;Расчёт: уникальные дилеры с активным объявлением"/>
          </p:cNvPr>
          <p:cNvSpPr/>
          <p:nvPr/>
        </p:nvSpPr>
        <p:spPr>
          <a:xfrm>
            <a:off x="548640" y="3035808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>
            <a:hlinkClick r:id="rId3" tooltip="Дашборд: Mashina - Структура объявлений&#10;Блок: Active Ads&#10;Отчёт: mashina active ads daily&#10;Расчёт: объявления частников / частники: 40 609 / 33 068; на 30.09 40 167 / 32 715"/>
          </p:cNvPr>
          <p:cNvSpPr/>
          <p:nvPr/>
        </p:nvSpPr>
        <p:spPr>
          <a:xfrm>
            <a:off x="548640" y="3394710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>
            <a:hlinkClick r:id="rId3" tooltip="Дашборд: Mashina - Структура объявлений&#10;Блок: Active Ads&#10;Отчёт: mashina active ads daily&#10;Расчёт: объявления дилеров / дилеры: 23 242 / 287; на 30.09 22 909 / 281"/>
          </p:cNvPr>
          <p:cNvSpPr/>
          <p:nvPr/>
        </p:nvSpPr>
        <p:spPr>
          <a:xfrm>
            <a:off x="548640" y="3753612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 txBox="1"/>
          <p:nvPr/>
        </p:nvSpPr>
        <p:spPr>
          <a:xfrm>
            <a:off x="7040880" y="1600200"/>
            <a:ext cx="4602175" cy="35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05.10 к 30.09, %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040880" y="1959102"/>
          <a:ext cx="4602175" cy="2464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69130"/>
          <a:ext cx="6217920" cy="179451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9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Возраст и концентрация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Медианный возраст, дней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 (+2,5%)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объявлений старше 90 дней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 п.п.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P80 объявлений на дилера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 (−2,0%)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P80 объявлений на частника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(0,0%)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1">
            <a:hlinkClick r:id="rId5" tooltip="Дашборд: Mashina - Структура объявлений&#10;Блок: Active Ads - Age Days&#10;Отчёт: mashina active ads median age days region group&#10;Расчёт: медиана возраста по всем регионам и продавцам; история статусов с 12.05.2026"/>
          </p:cNvPr>
          <p:cNvSpPr/>
          <p:nvPr/>
        </p:nvSpPr>
        <p:spPr>
          <a:xfrm>
            <a:off x="548640" y="4828032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2">
            <a:hlinkClick r:id="rId6" tooltip="Дашборд: Mashina - Структура объявлений&#10;Блок: Active Ads - Age Days&#10;Отчёт: mashina active ads age buckets region group&#10;Расчёт: возраст от 91 дня / все авто: 29 739 / 63 851; на 30.09 28 905 / 63 076"/>
          </p:cNvPr>
          <p:cNvSpPr/>
          <p:nvPr/>
        </p:nvSpPr>
        <p:spPr>
          <a:xfrm>
            <a:off x="548640" y="5186934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3">
            <a:hlinkClick r:id="rId7" tooltip="Дашборд: Mashina - Структура объявлений&#10;Блок: Active Ads P80&#10;Отчёт: mashina active ads sellers stats daily&#10;Расчёт: 20% самых крупных дилеров держат столько объявлений или больше"/>
          </p:cNvPr>
          <p:cNvSpPr/>
          <p:nvPr/>
        </p:nvSpPr>
        <p:spPr>
          <a:xfrm>
            <a:off x="548640" y="5545836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4">
            <a:hlinkClick r:id="rId7" tooltip="Дашборд: Mashina - Структура объявлений&#10;Блок: Active Ads P80&#10;Отчёт: mashina active ads sellers stats daily&#10;Расчёт: 80% частников держат не больше одного объявления; максимум у частника 113"/>
          </p:cNvPr>
          <p:cNvSpPr/>
          <p:nvPr/>
        </p:nvSpPr>
        <p:spPr>
          <a:xfrm>
            <a:off x="548640" y="5904738"/>
            <a:ext cx="6217920" cy="35890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21" name="Chart 1"/>
          <p:cNvGraphicFramePr/>
          <p:nvPr/>
        </p:nvGraphicFramePr>
        <p:xfrm>
          <a:off x="7040880" y="4828032"/>
          <a:ext cx="4602175" cy="174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33271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30 сентября: что успели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10.09–30.09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задач разработки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готовы к выпуску или закрыты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тестировании, ревью, работе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к выпуску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980944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Автобизнес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" y="325069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658368" y="3250692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аккаунты Instagram в промо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" y="352044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58368" y="3520440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без авторизации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79018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58368" y="3790188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главную после смены пароля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405993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58368" y="4059936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Скрыть «Удалить аккаунт»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" y="432968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58368" y="4329684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Закрепить «Пополнить баланс»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" y="45994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58368" y="4599432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на WebView РИОМ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486918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658368" y="4869180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Непрочитанные на иконке приложения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58368" y="513892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658368" y="5138928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 в истории оплат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58368" y="540867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658368" y="5408676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марки в фильтре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58368" y="567842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 txBox="1"/>
          <p:nvPr/>
        </p:nvSpPr>
        <p:spPr>
          <a:xfrm>
            <a:off x="658368" y="5678424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активных объявлений в логах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58368" y="594817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658368" y="5948172"/>
            <a:ext cx="5213452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Иконки проектов в футере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58368" y="62179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7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8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тестировании и ревью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319876" y="298094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 ОСАГО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тестирование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319876" y="329184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1"/>
          <p:cNvSpPr txBox="1"/>
          <p:nvPr/>
        </p:nvSpPr>
        <p:spPr>
          <a:xfrm>
            <a:off x="6319876" y="329184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Кэшбек 22% за полис ОСАГО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ревью и тестирование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6319876" y="360273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3"/>
          <p:cNvSpPr txBox="1"/>
          <p:nvPr/>
        </p:nvSpPr>
        <p:spPr>
          <a:xfrm>
            <a:off x="6319876" y="360273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Ивенты для пушей и отчётов VIN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тестированию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319876" y="39136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5"/>
          <p:cNvSpPr txBox="1"/>
          <p:nvPr/>
        </p:nvSpPr>
        <p:spPr>
          <a:xfrm>
            <a:off x="6319876" y="391363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мобилки и подключение Adjust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тестированию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319876" y="422452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7"/>
          <p:cNvSpPr txBox="1"/>
          <p:nvPr/>
        </p:nvSpPr>
        <p:spPr>
          <a:xfrm>
            <a:off x="6319876" y="4224528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веба для маркетинга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бэкенд в работе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6319876" y="453542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49"/>
          <p:cNvSpPr txBox="1"/>
          <p:nvPr/>
        </p:nvSpPr>
        <p:spPr>
          <a:xfrm>
            <a:off x="6319876" y="453542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Неактивные в избранном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мобилка возвращена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319876" y="48463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1"/>
          <p:cNvSpPr txBox="1"/>
          <p:nvPr/>
        </p:nvSpPr>
        <p:spPr>
          <a:xfrm>
            <a:off x="6319876" y="484632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по интерфейсу, Figma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ревью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319876" y="515721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3"/>
          <p:cNvSpPr txBox="1"/>
          <p:nvPr/>
        </p:nvSpPr>
        <p:spPr>
          <a:xfrm>
            <a:off x="6319876" y="515721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Скрыть неактуальные отчёты без VIN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тестированию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6319876" y="546811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5"/>
          <p:cNvSpPr txBox="1"/>
          <p:nvPr/>
        </p:nvSpPr>
        <p:spPr>
          <a:xfrm>
            <a:off x="6319876" y="546811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 отчётов по VIN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тестированию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6319876" y="577900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11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7 октября: что запланировали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24.09–07.10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00441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2937601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фич (эпиков)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52243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5189403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выпуску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04044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7441204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разработке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55846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9693006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из 17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задач готово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к выпуску  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980944"/>
            <a:ext cx="5432908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035808"/>
            <a:ext cx="51768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MASHINA-297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поиск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  7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19876" y="298094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Залоговый конвейер до отправки заявки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MASHINA-299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319876" y="329184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319876" y="329184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Коммерческий транспорт в автофинансировании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MASHINA-301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19876" y="360273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319876" y="360273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аудитории в админке пушей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MASHINA-303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19876" y="39136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319876" y="391363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Лейбл «22% кэшбек» на карточке ОСАГО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MASHINA-401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19876" y="422452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6319876" y="4224528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логотипа Mashina.kg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MASHINA-387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319876" y="453542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 txBox="1"/>
          <p:nvPr/>
        </p:nvSpPr>
        <p:spPr>
          <a:xfrm>
            <a:off x="6319876" y="453542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Логотипы на экране «Проверка по ВИН»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MASHINA-304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19876" y="48463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6319876" y="484632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заявки автофинансирования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MASHINA-302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319876" y="515721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56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Релизы 21 октября, 4 </a:t>
            </a:r>
            <a:r>
              <a:rPr lang="ru-RU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ноября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00441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2937601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04.11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52243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5189403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04044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7441204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фич (эпиков)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55846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9693006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готовы к тех оценке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85800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21.10: готово к тех оценке  6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298094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Гараж — Этап 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" y="329184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58368" y="329184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«Проверить авто» в карточке объявления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60273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58368" y="360273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потенциал MBANK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391363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58368" y="391363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Каскадная регистрация иностранных номеров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" y="422452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58368" y="422452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Ивенты с сайта в GA4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" y="453542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58368" y="453542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Убрать синхронное удаление аккаунта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484632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4322978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4460138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04.11  8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432706" y="298094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Значки продвижения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тех оценке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432706" y="329184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4432706" y="329184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Попап с оценкой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тех оценке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432706" y="360273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 txBox="1"/>
          <p:nvPr/>
        </p:nvSpPr>
        <p:spPr>
          <a:xfrm>
            <a:off x="4432706" y="360273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поиска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тех оценке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432706" y="391363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6"/>
          <p:cNvSpPr/>
          <p:nvPr/>
        </p:nvSpPr>
        <p:spPr>
          <a:xfrm>
            <a:off x="4432706" y="391662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 txBox="1"/>
          <p:nvPr/>
        </p:nvSpPr>
        <p:spPr>
          <a:xfrm>
            <a:off x="4432706" y="391662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Переработка системы бонусов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дизайна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432706" y="422751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39"/>
          <p:cNvSpPr txBox="1"/>
          <p:nvPr/>
        </p:nvSpPr>
        <p:spPr>
          <a:xfrm>
            <a:off x="4432706" y="422751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Пополнение баланса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432706" y="453841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1"/>
          <p:cNvSpPr txBox="1"/>
          <p:nvPr/>
        </p:nvSpPr>
        <p:spPr>
          <a:xfrm>
            <a:off x="4432706" y="453841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оплата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432706" y="484930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3"/>
          <p:cNvSpPr txBox="1"/>
          <p:nvPr/>
        </p:nvSpPr>
        <p:spPr>
          <a:xfrm>
            <a:off x="4432706" y="484930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Фича-флаги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Формирование требований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432706" y="516020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40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Гараж: три этапа, детали Этапа 1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08.10–21.10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MVP без интеграций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штрафы и страховка, упирается в ГРС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развитие, конец ноября и дальше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 — что входит  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 авто вручную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Марка, модель, год, комплектация, госномер, цвет, салон, VIN. Несколько авто с переключением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642970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697834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Пробег и техобслуживание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Пробег вводит пользователь, записи о ТО ведёт сам: дата, работы, пробег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304995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4359859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и страховка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Витрина предодобренного кредита и вход в заявку; оформление и оплата ОСАГО, тонировка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967021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76656" y="5021885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стоимости и продажа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Рыночная оценка на своих данных; продажа из гаража закрывает ~70% формы объявления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629046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76656" y="5683910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полезные сервисы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отчёта по авто из гаража, сервисы собраны вокруг конкретной машины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22978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4460138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— интеграции  4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322978" y="2980944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4450994" y="3035808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штрафов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и выписанные вручную: сумма, дата, статус, оплата в контуре МБанка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322978" y="3808476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4450994" y="3863340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 целиком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ОСАГО, ОСГОП, КАСКО: статус полиса по авто, оформление и продление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22978" y="4636008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4450994" y="4690872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 вокруг владения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номеров, эвакуатор, запись на ремонт, переоформление, налоги, мой журнал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322978" y="5463540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 txBox="1"/>
          <p:nvPr/>
        </p:nvSpPr>
        <p:spPr>
          <a:xfrm>
            <a:off x="4450994" y="5518404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Развилка по интеграции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МБанк быстрее, напрямую с ГРС — больше данных; оценка «неделя» не проверена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97317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315BA8"/>
          </a:solidFill>
          <a:ln w="12700">
            <a:solidFill>
              <a:srgbClr val="315B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8234477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 — развитие  4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097317" y="2980944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6"/>
          <p:cNvSpPr txBox="1"/>
          <p:nvPr/>
        </p:nvSpPr>
        <p:spPr>
          <a:xfrm>
            <a:off x="8225333" y="3035808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Trade-in и продажа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 регулярные работы: замена масла, замена резины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097317" y="3808476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8"/>
          <p:cNvSpPr txBox="1"/>
          <p:nvPr/>
        </p:nvSpPr>
        <p:spPr>
          <a:xfrm>
            <a:off x="8225333" y="3863340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Автоподтяг данных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Пробег из техосмотра; реальные данные по автокредиту — остаток, платёж, досрочное погашение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097317" y="4636008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 txBox="1"/>
          <p:nvPr/>
        </p:nvSpPr>
        <p:spPr>
          <a:xfrm>
            <a:off x="8225333" y="4690872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проверки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ТС, разрешение на тонировку, техосмотр, CarCheck, проверка ВУ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097317" y="5463540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 txBox="1"/>
          <p:nvPr/>
        </p:nvSpPr>
        <p:spPr>
          <a:xfrm>
            <a:off x="8225333" y="5518404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Партнёрские предложения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Скидки партнёров и расширенная проверка на отчётах; социальный слой — не приоритет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жизни объявления и 50% за первое продление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22.10–04.11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дней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срок жизни объявления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бесплатное объявление в каждой из 3 групп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кешбэк за первое платное продление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C84D4D"/>
          </a:solidFill>
          <a:ln w="12700">
            <a:solidFill>
              <a:srgbClr val="C84D4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сейчас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Объявление живёт вечно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Даты окончания нет: «Поднять» или редактирование держат его в выдаче бесконечно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выдаче копятся проданные машины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выдачи никто не проверяет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причин платить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Объявление и так висит, продлевать его не нужно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76656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Уведомлений о сроке нет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маркетинговые кампании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0148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6338164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дней со дня публикации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Продление до снятия даёт +30 дней к дате окончания, оплаченные дни не сгорают. Промо и редактирование срок не меняют. Дилер живёт по подписке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0148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6338164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разделены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«Поднять» — вход в платное продвижение с Auto up на 3 дня; «Продлить» появляется с 27-го дня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0148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6338164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бесплатное место в группе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Транспорт, услуги, запчасти — по одному. Место занято — продление по цене публикации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0148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338164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Кешбэк 50% за первое платное продление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 бонусами, один раз на пользователя. Автопродление списывает на 27-й день, при неудаче ещё две попытки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жизни объявления: ожидаемое изменение показателей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43094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Сейчас, 1–28.09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Станет за месяц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8 677 521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+100–220 тыс.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Пополнения,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5 019 126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+120–240 тыс.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депозит,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1 130–1 160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Пополняющие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+200–400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Регистрация → пополнение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10,8–11,5%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п.п.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15 708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изменений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MPAU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6 796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+500–1 000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Удержание пополняющих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п.п.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Платящие дилеры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+5–15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 на дилера,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4 720–5 060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Новых объявлений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−3…0%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Вернувшиеся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+80–120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3">
            <a:hlinkClick r:id="rId3" action="ppaction://hlinksldjump" tooltip="«Срок жизни объявления: влияние на показатели месяца» от 29.09.2026&#10;Расчёт: +1,2…+2,7%: Auto up 50–95 тыс., лимит одного бесплатного 40–75 тыс., продления 25–40 тыс."/>
          </p:cNvPr>
          <p:cNvSpPr/>
          <p:nvPr/>
        </p:nvSpPr>
        <p:spPr>
          <a:xfrm>
            <a:off x="548640" y="1923757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4">
            <a:hlinkClick r:id="rId3" action="ppaction://hlinksldjump" tooltip="«Срок жизни объявления: влияние на показатели месяца» от 29.09.2026&#10;Расчёт: +2,5…+5%: новые пополняющие кладут на баланс больше, чем тратят"/>
          </p:cNvPr>
          <p:cNvSpPr/>
          <p:nvPr/>
        </p:nvSpPr>
        <p:spPr>
          <a:xfrm>
            <a:off x="548640" y="2247314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3" action="ppaction://hlinksldjump" tooltip="«Срок жизни объявления: влияние на показатели месяца» от 29.09.2026&#10;Расчёт: −2…−4%: приходят люди с платежами 20–120 сом, число пополняющих растёт быстрее суммы"/>
          </p:cNvPr>
          <p:cNvSpPr/>
          <p:nvPr/>
        </p:nvSpPr>
        <p:spPr>
          <a:xfrm>
            <a:off x="548640" y="2570871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3" action="ppaction://hlinksldjump" tooltip="«Срок жизни объявления: влияние на показатели месяца» от 29.09.2026&#10;Расчёт: +5…+10%: из 600–1 100 новых платящих пополнят баланс около половины"/>
          </p:cNvPr>
          <p:cNvSpPr/>
          <p:nvPr/>
        </p:nvSpPr>
        <p:spPr>
          <a:xfrm>
            <a:off x="548640" y="2894428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3" action="ppaction://hlinksldjump" tooltip="«Срок жизни объявления: влияние на показатели месяца» от 29.09.2026&#10;Расчёт: числитель +100–200 человек, знаменатель не меняется: (1 519 + 100…200) / 15 002"/>
          </p:cNvPr>
          <p:cNvSpPr/>
          <p:nvPr/>
        </p:nvSpPr>
        <p:spPr>
          <a:xfrm>
            <a:off x="548640" y="3217985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>
            <a:hlinkClick r:id="rId3" action="ppaction://hlinksldjump" tooltip="«Срок жизни объявления: влияние на показатели месяца» от 29.09.2026&#10;Расчёт: фича работает только с теми, у кого уже есть объявление и аккаунт"/>
          </p:cNvPr>
          <p:cNvSpPr/>
          <p:nvPr/>
        </p:nvSpPr>
        <p:spPr>
          <a:xfrm>
            <a:off x="548640" y="3541542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>
            <a:hlinkClick r:id="rId3" action="ppaction://hlinksldjump" tooltip="«Срок жизни объявления: влияние на показатели месяца» от 29.09.2026&#10;Расчёт: +8…+15%: сюда попадают и те, кто платит с промо-баланса и бонусов без пополнения"/>
          </p:cNvPr>
          <p:cNvSpPr/>
          <p:nvPr/>
        </p:nvSpPr>
        <p:spPr>
          <a:xfrm>
            <a:off x="548640" y="3865098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>
            <a:hlinkClick r:id="rId3" action="ppaction://hlinksldjump" tooltip="«Срок жизни объявления: влияние на показатели месяца» от 29.09.2026&#10;Расчёт: продление повторяется каждые 30 дней; минус — частник продал машину и перестал платить"/>
          </p:cNvPr>
          <p:cNvSpPr/>
          <p:nvPr/>
        </p:nvSpPr>
        <p:spPr>
          <a:xfrm>
            <a:off x="548640" y="4188655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11">
            <a:hlinkClick r:id="rId3" action="ppaction://hlinksldjump" tooltip="«Срок жизни объявления: влияние на показатели месяца» от 29.09.2026&#10;Расчёт: +4…+12%: частникам с несколькими объявлениями выгоднее тариф «Актив» за 531 сом"/>
          </p:cNvPr>
          <p:cNvSpPr/>
          <p:nvPr/>
        </p:nvSpPr>
        <p:spPr>
          <a:xfrm>
            <a:off x="548640" y="4512212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>
            <a:hlinkClick r:id="rId3" action="ppaction://hlinksldjump" tooltip="«Срок жизни объявления: влияние на показатели месяца» от 29.09.2026&#10;Расчёт: −4…−10%: новые дилеры приходят на самый дешёвый тариф"/>
          </p:cNvPr>
          <p:cNvSpPr/>
          <p:nvPr/>
        </p:nvSpPr>
        <p:spPr>
          <a:xfrm>
            <a:off x="548640" y="4835769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>
            <a:hlinkClick r:id="rId3" action="ppaction://hlinksldjump" tooltip="«Срок жизни объявления: влияние на показатели месяца» от 29.09.2026&#10;Расчёт: весь транспорт делит одно бесплатное место; вверх тянет повторная публикация истёкших"/>
          </p:cNvPr>
          <p:cNvSpPr/>
          <p:nvPr/>
        </p:nvSpPr>
        <p:spPr>
          <a:xfrm>
            <a:off x="548640" y="5159326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4">
            <a:hlinkClick r:id="rId3" action="ppaction://hlinksldjump" tooltip="«Срок жизни объявления: влияние на показатели месяца» от 29.09.2026&#10;Расчёт: +5…+8%: напоминания о сроке находят тех, кто платил давно и выпал"/>
          </p:cNvPr>
          <p:cNvSpPr/>
          <p:nvPr/>
        </p:nvSpPr>
        <p:spPr>
          <a:xfrm>
            <a:off x="548640" y="5482883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 txBox="1"/>
          <p:nvPr/>
        </p:nvSpPr>
        <p:spPr>
          <a:xfrm>
            <a:off x="7040880" y="1600200"/>
            <a:ext cx="4602175" cy="32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к текущему уровню, %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40880" y="1923757"/>
          <a:ext cx="4602175" cy="4193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Переработка системы бонусов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04.11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8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891 621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не потрачено на 16.09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новый лимит оплаты бонусами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мес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срок жизни начисления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C84D4D"/>
          </a:solidFill>
          <a:ln w="12700">
            <a:solidFill>
              <a:srgbClr val="C84D4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сейчас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Тратятся только на продвижение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Кэшбек 100% за бизнес-тарифы и 22% за ОСАГО приходит всем, а потратить можно лишь на продвижение объявления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Срока жизни нет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1 299 163 бонусов за тарифы на 16.09 не потрачено 891 621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Покупателю бонус бесполезен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Получил кэшбек за ОСАГО, но продвижение ему не нужно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76656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учёта в разметке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видно, какая часть покупки оплачена бонусами, а какая сомами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0148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6338164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Бонусами платим за все группы услуг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Продвижение, Stories + Пост, подарок промо, публикация, тарифы Active–Maximum. Не принимают: пополнение, отчёты, ОСАГО, кредит, лизинг, рекламный охват Instagram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0148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6338164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оплатить 100%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меняется в админке для всех услуг или отдельно для каждой. Журнал изменений хранится 12 месяцев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0148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6338164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Начисление сгорает через 3 месяца по стандарту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 за месяц и за 3 дня, списание с ближайшего к сгоранию начисления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0148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338164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Кэшбек только с суммы в сомах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 9 000 сом, оплаченный 3 000 бонусов и 6 000 сом, даёт 6 000 бонусов, а не 9 000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6942</Words>
  <Application>Microsoft Office PowerPoint</Application>
  <PresentationFormat>Широкоэкранный</PresentationFormat>
  <Paragraphs>553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Mashina.kg</dc:title>
  <dc:subject>PptxGenJS Presentation</dc:subject>
  <dc:creator>PptxGenJS</dc:creator>
  <cp:lastModifiedBy>Олег Исиченко</cp:lastModifiedBy>
  <cp:revision>15</cp:revision>
  <dcterms:created xsi:type="dcterms:W3CDTF">2026-10-06T11:31:18Z</dcterms:created>
  <dcterms:modified xsi:type="dcterms:W3CDTF">2026-10-07T04:04:07Z</dcterms:modified>
</cp:coreProperties>
</file>