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7" r:id="rId4"/>
    <p:sldId id="268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3394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Источники: Redash (queries 348, 430, 536, 303, 326, 336, 364, 438, 549), SQL-выборка через Redash по таблицам claim service, Jira rapidView 1. Срез 14.09.2026 10:00 Asia/Bishkek. Автопроверки данных пройдены. Статусы спринтов: Google Таблица «Задачи Mashina.kg», листы 10.09-24.09, 25.09-08.10, 09.10-22.10, выгрузка 15.09.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изменения — к неделе 31.08–06.09. Новые аккаунты: Redash 430, new_users за пн–вс: 3 688 → 4 090 = +402 (+10,9%). DAU приложений: Redash 438, marts.fct_daily_metrics, ANDROID + IOS, сумма dau за день, среднее за 7 дней: 245 225 / 7 = 35 032 → 256 047 / 7 = 36 578; +1 546 (+4,4%); воскресенье 13.09 полное. Платящие: Redash 326, period = week, mpau: 1 996 → 2 221. ARPPU = выручка / платящие: 711,6 → 722,2 сом; +10,6 (+1,5%). Новые платящие: Redash 336, period = week, new_payers: 443 → 534 = +91 (+20,5%); mpau в 336 — 2 005 → 2 222, чуть выше 326 из-за другого списка исключаемых типов транзакций. Выручка: revenue_total 1 420 351 → 1 603 952 сом, транзакции 3 110 → 3 444. Новые объявления: Redash 348, 4 913 → 5 520, частные 4 135 → 4 654, дилеры 778 → 866. Пополнения: Redash 536, 1 164 222 → 1 352 648 сом, транзакции 1 398 → 1 607.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Этапы: В разработке — 16, Дизайн — 2 (золото/серебро/бронза, кэшбэк 22% на страховку), QA — 1 (кредитный потенциал). Статусы: Успеваем — 14, Под вопросом — 5, «Не успеваем» нет. Изменения с выгрузки 14.09: золото/серебро/бронза и кредитный потенциал — «Не успеваем» → «Под вопросом»; кэшбэк 22% на страховку — «Успеваем» → «Под вопросом»; бейдж непрочитанных — «Требования / Под вопросом» → «В разработке / Успеваем»; популярные марки — «Под вопросом» → «Успеваем»; Apple Pay перенесена в спринт 09.10–22.10. У «Цвет текста» в описании «Готово», этап — «В разработке».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Спринт 25.09–08.10: QA — 4, Требования — 12; с 14.09 добавлена задача «Флоу фильтрации и создания объявления на мобилке», у «Пуш на снижение цены» появились этап и описание (пуш всем, кто добавил объявление в избранное). Спринт 09.10–22.10: QA — 1, Требования — 6, Apple Pay без этапа — перенесена из спринта 10.09–24.09 (MASH-1041, MASH-897, MASH-777, MASH-778, MASH-1130). Статусы «успеваем / под вопросом» в этих листах не заполнены.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92.204.189.31:8082/queries/336?p_from_date=2026-08-31&amp;p_to_date=2026-09-13&amp;p_period=week#753" TargetMode="External"/><Relationship Id="rId3" Type="http://schemas.openxmlformats.org/officeDocument/2006/relationships/hyperlink" Target="http://92.204.189.31:8082/queries/430?p_from_date=2026-08-31&amp;p_to_date=2026-09-13#947" TargetMode="External"/><Relationship Id="rId7" Type="http://schemas.openxmlformats.org/officeDocument/2006/relationships/hyperlink" Target="http://92.204.189.31:8082/queries/348?p_category_group=car&amp;p_date_from=2026-08-31&amp;p_date_to=2026-09-13&amp;p_granularity=day#779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92.204.189.31:8082/queries/326?p_date_from=2026-08-31&amp;p_date_to=2026-09-13&amp;p_period=week#732" TargetMode="External"/><Relationship Id="rId5" Type="http://schemas.openxmlformats.org/officeDocument/2006/relationships/hyperlink" Target="http://92.204.189.31:8082/queries/326?p_date_from=2026-08-31&amp;p_date_to=2026-09-13&amp;p_period=week#729" TargetMode="External"/><Relationship Id="rId10" Type="http://schemas.openxmlformats.org/officeDocument/2006/relationships/hyperlink" Target="http://92.204.189.31:8082/queries/536?p_from_date=2026-08-31&amp;p_to_date=2026-09-13#1188" TargetMode="External"/><Relationship Id="rId4" Type="http://schemas.openxmlformats.org/officeDocument/2006/relationships/hyperlink" Target="http://92.204.189.31:8082/queries/438?p_from_date=2026-08-31#965" TargetMode="External"/><Relationship Id="rId9" Type="http://schemas.openxmlformats.org/officeDocument/2006/relationships/hyperlink" Target="http://92.204.189.31:8082/queries/326?p_date_from=2026-08-31&amp;p_date_to=2026-09-13&amp;p_period=week#730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9D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Еженедельный отчёт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Mashina.kg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7–13 сентября 2026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D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Сравнение: 31 августа – 6 </a:t>
            </a:r>
            <a:r>
              <a:rPr lang="en-US" sz="1400" dirty="0" err="1">
                <a:solidFill>
                  <a:srgbClr val="9D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сентября</a:t>
            </a:r>
            <a:r>
              <a:rPr lang="en-US" sz="1400" dirty="0">
                <a:solidFill>
                  <a:srgbClr val="9D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3515258" cy="1508760"/>
          </a:xfrm>
          <a:prstGeom prst="roundRect">
            <a:avLst>
              <a:gd name="adj" fmla="val 4848"/>
            </a:avLst>
          </a:prstGeom>
          <a:solidFill>
            <a:srgbClr val="33445F"/>
          </a:solidFill>
          <a:ln w="12700">
            <a:solidFill>
              <a:srgbClr val="3344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 txBox="1"/>
          <p:nvPr/>
        </p:nvSpPr>
        <p:spPr>
          <a:xfrm>
            <a:off x="777240" y="4206240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9D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38218" y="4069080"/>
            <a:ext cx="3515258" cy="1508760"/>
          </a:xfrm>
          <a:prstGeom prst="roundRect">
            <a:avLst>
              <a:gd name="adj" fmla="val 4848"/>
            </a:avLst>
          </a:prstGeom>
          <a:solidFill>
            <a:srgbClr val="33445F"/>
          </a:solidFill>
          <a:ln w="12700">
            <a:solidFill>
              <a:srgbClr val="3344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 txBox="1"/>
          <p:nvPr/>
        </p:nvSpPr>
        <p:spPr>
          <a:xfrm>
            <a:off x="4566818" y="4206240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9D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ru-RU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Текущий спринт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7797" y="4069080"/>
            <a:ext cx="3515258" cy="1508760"/>
          </a:xfrm>
          <a:prstGeom prst="roundRect">
            <a:avLst>
              <a:gd name="adj" fmla="val 4848"/>
            </a:avLst>
          </a:prstGeom>
          <a:solidFill>
            <a:srgbClr val="33445F"/>
          </a:solidFill>
          <a:ln w="12700">
            <a:solidFill>
              <a:srgbClr val="3344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 txBox="1"/>
          <p:nvPr/>
        </p:nvSpPr>
        <p:spPr>
          <a:xfrm>
            <a:off x="8356397" y="4206240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9D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ru-RU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Будущие спринты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09344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Аналитика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 продукта: 7–13 сентября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Спрос и деньги растут: новых аккаунтов +402 (+10,9%), выручка +183,6 тыс. сом (+12,9%), новых платящих +91 (+20,5%)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810512"/>
            <a:ext cx="2602154" cy="1920240"/>
          </a:xfrm>
          <a:prstGeom prst="roundRect">
            <a:avLst>
              <a:gd name="adj" fmla="val 3810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 txBox="1"/>
          <p:nvPr/>
        </p:nvSpPr>
        <p:spPr>
          <a:xfrm>
            <a:off x="731520" y="1956816"/>
            <a:ext cx="22363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аккаунты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267712"/>
            <a:ext cx="22363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4 090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871216"/>
            <a:ext cx="22363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+402 (+10,9%)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182112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регистрации за пн–вс</a:t>
            </a:r>
            <a:endParaRPr lang="en-US" sz="1000" dirty="0"/>
          </a:p>
        </p:txBody>
      </p:sp>
      <p:sp>
        <p:nvSpPr>
          <p:cNvPr id="14" name="Shape 11">
            <a:hlinkClick r:id="rId3" tooltip="Дашборд: Mashina - Supply&#10;Блок: New Listings&#10;Отчёт: New Users Daily · mashina new users by period daily&#10;Расчёт: new_users за пн–вс: 3 688 → 4 090 = +402 (+10,9%)"/>
          </p:cNvPr>
          <p:cNvSpPr/>
          <p:nvPr/>
        </p:nvSpPr>
        <p:spPr>
          <a:xfrm>
            <a:off x="548640" y="1810512"/>
            <a:ext cx="2602154" cy="19202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2"/>
          <p:cNvSpPr/>
          <p:nvPr/>
        </p:nvSpPr>
        <p:spPr>
          <a:xfrm>
            <a:off x="3379394" y="1810512"/>
            <a:ext cx="2602154" cy="1920240"/>
          </a:xfrm>
          <a:prstGeom prst="roundRect">
            <a:avLst>
              <a:gd name="adj" fmla="val 3810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 txBox="1"/>
          <p:nvPr/>
        </p:nvSpPr>
        <p:spPr>
          <a:xfrm>
            <a:off x="3562274" y="1956816"/>
            <a:ext cx="22363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 приложений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562274" y="2267712"/>
            <a:ext cx="22363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36 578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3562274" y="2871216"/>
            <a:ext cx="22363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+1 546 (+4,4%)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562274" y="3182112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+ iOS, в среднем за день</a:t>
            </a:r>
            <a:endParaRPr lang="en-US" sz="1000" dirty="0"/>
          </a:p>
        </p:txBody>
      </p:sp>
      <p:sp>
        <p:nvSpPr>
          <p:cNvPr id="20" name="Shape 17">
            <a:hlinkClick r:id="rId4" tooltip="Дашборд: Mashina - Mobile GA&#10;Отчёт: DAU By Platform · mashina fct daily metrics mobile&#10;Расчёт: сумма dau Android + iOS за пн–вс / 7: 35 032 → 36 578 = +1 546 (+4,4%)"/>
          </p:cNvPr>
          <p:cNvSpPr/>
          <p:nvPr/>
        </p:nvSpPr>
        <p:spPr>
          <a:xfrm>
            <a:off x="3379394" y="1810512"/>
            <a:ext cx="2602154" cy="19202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8"/>
          <p:cNvSpPr/>
          <p:nvPr/>
        </p:nvSpPr>
        <p:spPr>
          <a:xfrm>
            <a:off x="6210148" y="1810512"/>
            <a:ext cx="2602154" cy="1920240"/>
          </a:xfrm>
          <a:prstGeom prst="roundRect">
            <a:avLst>
              <a:gd name="adj" fmla="val 3810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 txBox="1"/>
          <p:nvPr/>
        </p:nvSpPr>
        <p:spPr>
          <a:xfrm>
            <a:off x="6393028" y="1956816"/>
            <a:ext cx="22363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Платящие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393028" y="2267712"/>
            <a:ext cx="22363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2 221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6393028" y="2871216"/>
            <a:ext cx="22363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+225 (+11,3%)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393028" y="3182112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уникальные пользователи со списаниями за неделю</a:t>
            </a:r>
            <a:endParaRPr lang="en-US" sz="1000" dirty="0"/>
          </a:p>
        </p:txBody>
      </p:sp>
      <p:sp>
        <p:nvSpPr>
          <p:cNvPr id="26" name="Shape 23">
            <a:hlinkClick r:id="rId5" tooltip="Дашборд: Mashina - MRR (Monthly Recurring Revenue)&#10;Блок: Revenue (CashOut)&#10;Отчёт: Total Transactions &amp; MPAU · mashina spent transactions summary monthly&#10;Расчёт: mpau, period = week: 1 996 → 2 221 = +225 (+11,3%)"/>
          </p:cNvPr>
          <p:cNvSpPr/>
          <p:nvPr/>
        </p:nvSpPr>
        <p:spPr>
          <a:xfrm>
            <a:off x="6210148" y="1810512"/>
            <a:ext cx="2602154" cy="19202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Shape 24"/>
          <p:cNvSpPr/>
          <p:nvPr/>
        </p:nvSpPr>
        <p:spPr>
          <a:xfrm>
            <a:off x="9040901" y="1810512"/>
            <a:ext cx="2602154" cy="1920240"/>
          </a:xfrm>
          <a:prstGeom prst="roundRect">
            <a:avLst>
              <a:gd name="adj" fmla="val 3810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5"/>
          <p:cNvSpPr txBox="1"/>
          <p:nvPr/>
        </p:nvSpPr>
        <p:spPr>
          <a:xfrm>
            <a:off x="9223781" y="1956816"/>
            <a:ext cx="22363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ARPPU, сом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223781" y="2267712"/>
            <a:ext cx="22363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722</a:t>
            </a:r>
            <a:endParaRPr lang="en-US" sz="3000" dirty="0"/>
          </a:p>
        </p:txBody>
      </p:sp>
      <p:sp>
        <p:nvSpPr>
          <p:cNvPr id="30" name="Text 27"/>
          <p:cNvSpPr txBox="1"/>
          <p:nvPr/>
        </p:nvSpPr>
        <p:spPr>
          <a:xfrm>
            <a:off x="9223781" y="2871216"/>
            <a:ext cx="22363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 (+1,5%)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223781" y="3182112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/ платящие за неделю</a:t>
            </a:r>
            <a:endParaRPr lang="en-US" sz="1000" dirty="0"/>
          </a:p>
        </p:txBody>
      </p:sp>
      <p:sp>
        <p:nvSpPr>
          <p:cNvPr id="32" name="Shape 29">
            <a:hlinkClick r:id="rId6" tooltip="Дашборд: Mashina - MRR (Monthly Recurring Revenue)&#10;Блок: Revenue (CashOut)&#10;Отчёт: ARPPU + Avg Check + Avg TX Per User · mashina spent transactions summary monthly&#10;Расчёт: 1 603 952 / 2 221 = 722 сом; было 1 420 351 / 1 996 = 712; +11 (+1,5%)"/>
          </p:cNvPr>
          <p:cNvSpPr/>
          <p:nvPr/>
        </p:nvSpPr>
        <p:spPr>
          <a:xfrm>
            <a:off x="9040901" y="1810512"/>
            <a:ext cx="2602154" cy="19202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Shape 30"/>
          <p:cNvSpPr/>
          <p:nvPr/>
        </p:nvSpPr>
        <p:spPr>
          <a:xfrm>
            <a:off x="548640" y="3959352"/>
            <a:ext cx="2602154" cy="1920240"/>
          </a:xfrm>
          <a:prstGeom prst="roundRect">
            <a:avLst>
              <a:gd name="adj" fmla="val 3810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1"/>
          <p:cNvSpPr txBox="1"/>
          <p:nvPr/>
        </p:nvSpPr>
        <p:spPr>
          <a:xfrm>
            <a:off x="731520" y="4105656"/>
            <a:ext cx="22363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объявления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731520" y="4416552"/>
            <a:ext cx="22363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5 520</a:t>
            </a:r>
            <a:endParaRPr lang="en-US" sz="3000" dirty="0"/>
          </a:p>
        </p:txBody>
      </p:sp>
      <p:sp>
        <p:nvSpPr>
          <p:cNvPr id="36" name="Text 33"/>
          <p:cNvSpPr txBox="1"/>
          <p:nvPr/>
        </p:nvSpPr>
        <p:spPr>
          <a:xfrm>
            <a:off x="731520" y="5020056"/>
            <a:ext cx="22363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+607 (+12,4%)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731520" y="5330952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легковые; частные +519, дилеры +88</a:t>
            </a:r>
            <a:endParaRPr lang="en-US" sz="1000" dirty="0"/>
          </a:p>
        </p:txBody>
      </p:sp>
      <p:sp>
        <p:nvSpPr>
          <p:cNvPr id="38" name="Shape 35">
            <a:hlinkClick r:id="rId7" tooltip="Дашборд: Mashina - Supply&#10;Блок: New Listings&#10;Отчёт: Total by seller type (category, period) · mashina new listings seller type dwh summary by day week month&#10;Расчёт: car, total за пн–вс: 4 913 → 5 520 = +607 (+12,4%)"/>
          </p:cNvPr>
          <p:cNvSpPr/>
          <p:nvPr/>
        </p:nvSpPr>
        <p:spPr>
          <a:xfrm>
            <a:off x="548640" y="3959352"/>
            <a:ext cx="2602154" cy="19202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Shape 36"/>
          <p:cNvSpPr/>
          <p:nvPr/>
        </p:nvSpPr>
        <p:spPr>
          <a:xfrm>
            <a:off x="3379394" y="3959352"/>
            <a:ext cx="2602154" cy="1920240"/>
          </a:xfrm>
          <a:prstGeom prst="roundRect">
            <a:avLst>
              <a:gd name="adj" fmla="val 3810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7"/>
          <p:cNvSpPr txBox="1"/>
          <p:nvPr/>
        </p:nvSpPr>
        <p:spPr>
          <a:xfrm>
            <a:off x="3562274" y="4105656"/>
            <a:ext cx="22363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платящие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3562274" y="4416552"/>
            <a:ext cx="22363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534</a:t>
            </a:r>
            <a:endParaRPr lang="en-US" sz="3000" dirty="0"/>
          </a:p>
        </p:txBody>
      </p:sp>
      <p:sp>
        <p:nvSpPr>
          <p:cNvPr id="42" name="Text 39"/>
          <p:cNvSpPr txBox="1"/>
          <p:nvPr/>
        </p:nvSpPr>
        <p:spPr>
          <a:xfrm>
            <a:off x="3562274" y="5020056"/>
            <a:ext cx="22363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 (+20,5%)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3562274" y="5330952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впервые заплатили за услуги</a:t>
            </a:r>
            <a:endParaRPr lang="en-US" sz="1000" dirty="0"/>
          </a:p>
        </p:txBody>
      </p:sp>
      <p:sp>
        <p:nvSpPr>
          <p:cNvPr id="44" name="Shape 41">
            <a:hlinkClick r:id="rId8" tooltip="Дашборд: Mashina - MRR (Monthly Recurring Revenue)&#10;Блок: New / Retained / Reactivated / Churned / Retention&#10;Отчёт: Payers: New + Retained + Reactivated, Users Count · mashina spent transactions summary retention churn mom monthly"/>
          </p:cNvPr>
          <p:cNvSpPr/>
          <p:nvPr/>
        </p:nvSpPr>
        <p:spPr>
          <a:xfrm>
            <a:off x="3379394" y="3959352"/>
            <a:ext cx="2602154" cy="19202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5" name="Shape 42"/>
          <p:cNvSpPr/>
          <p:nvPr/>
        </p:nvSpPr>
        <p:spPr>
          <a:xfrm>
            <a:off x="6210148" y="3959352"/>
            <a:ext cx="2602154" cy="1920240"/>
          </a:xfrm>
          <a:prstGeom prst="roundRect">
            <a:avLst>
              <a:gd name="adj" fmla="val 3810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6" name="Text 43"/>
          <p:cNvSpPr txBox="1"/>
          <p:nvPr/>
        </p:nvSpPr>
        <p:spPr>
          <a:xfrm>
            <a:off x="6393028" y="4105656"/>
            <a:ext cx="22363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Выручка, сом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6393028" y="4416552"/>
            <a:ext cx="22363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1,60 млн</a:t>
            </a:r>
            <a:endParaRPr lang="en-US" sz="3000" dirty="0"/>
          </a:p>
        </p:txBody>
      </p:sp>
      <p:sp>
        <p:nvSpPr>
          <p:cNvPr id="48" name="Text 45"/>
          <p:cNvSpPr txBox="1"/>
          <p:nvPr/>
        </p:nvSpPr>
        <p:spPr>
          <a:xfrm>
            <a:off x="6393028" y="5020056"/>
            <a:ext cx="22363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+183,6 тыс. (+12,9%)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6393028" y="5330952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транзакций 3 444: +334 (+10,7%)</a:t>
            </a:r>
            <a:endParaRPr lang="en-US" sz="1000" dirty="0"/>
          </a:p>
        </p:txBody>
      </p:sp>
      <p:sp>
        <p:nvSpPr>
          <p:cNvPr id="50" name="Shape 47">
            <a:hlinkClick r:id="rId9" tooltip="Дашборд: Mashina - MRR (Monthly Recurring Revenue)&#10;Блок: Revenue (CashOut)&#10;Отчёт: Revenue Total + MoM % · mashina spent transactions summary monthly&#10;Расчёт: revenue_total, week: 1 420 351 → 1 603 952 сом = +183 601 (+12,9%)"/>
          </p:cNvPr>
          <p:cNvSpPr/>
          <p:nvPr/>
        </p:nvSpPr>
        <p:spPr>
          <a:xfrm>
            <a:off x="6210148" y="3959352"/>
            <a:ext cx="2602154" cy="19202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1" name="Shape 48"/>
          <p:cNvSpPr/>
          <p:nvPr/>
        </p:nvSpPr>
        <p:spPr>
          <a:xfrm>
            <a:off x="9040901" y="3959352"/>
            <a:ext cx="2602154" cy="1920240"/>
          </a:xfrm>
          <a:prstGeom prst="roundRect">
            <a:avLst>
              <a:gd name="adj" fmla="val 3810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2" name="Text 49"/>
          <p:cNvSpPr txBox="1"/>
          <p:nvPr/>
        </p:nvSpPr>
        <p:spPr>
          <a:xfrm>
            <a:off x="9223781" y="4105656"/>
            <a:ext cx="22363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Пополнения, сом</a:t>
            </a:r>
            <a:endParaRPr lang="en-US" sz="1200" dirty="0"/>
          </a:p>
        </p:txBody>
      </p:sp>
      <p:sp>
        <p:nvSpPr>
          <p:cNvPr id="53" name="Text 50"/>
          <p:cNvSpPr txBox="1"/>
          <p:nvPr/>
        </p:nvSpPr>
        <p:spPr>
          <a:xfrm>
            <a:off x="9223781" y="4416552"/>
            <a:ext cx="22363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1,35 млн</a:t>
            </a:r>
            <a:endParaRPr lang="en-US" sz="3000" dirty="0"/>
          </a:p>
        </p:txBody>
      </p:sp>
      <p:sp>
        <p:nvSpPr>
          <p:cNvPr id="54" name="Text 51"/>
          <p:cNvSpPr txBox="1"/>
          <p:nvPr/>
        </p:nvSpPr>
        <p:spPr>
          <a:xfrm>
            <a:off x="9223781" y="5020056"/>
            <a:ext cx="22363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+188,4 тыс. (+16,2%)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9223781" y="5330952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1 607 транзакций: +209 (+14,9%); не выручка</a:t>
            </a:r>
            <a:endParaRPr lang="en-US" sz="1000" dirty="0"/>
          </a:p>
        </p:txBody>
      </p:sp>
      <p:sp>
        <p:nvSpPr>
          <p:cNvPr id="56" name="Shape 53">
            <a:hlinkClick r:id="rId10" tooltip="Дашборд: Mashina - Deposits Revenue&#10;Блок: Deposits Daily&#10;Отчёт: Deposits Sum Revenue + MA(30d), Daily · mashina cashin transactions + ma30d daily by source new&#10;Расчёт: sum_revenue за пн–вс: 1 164 222 → 1 352 648 сом (+16,2%)"/>
          </p:cNvPr>
          <p:cNvSpPr/>
          <p:nvPr/>
        </p:nvSpPr>
        <p:spPr>
          <a:xfrm>
            <a:off x="9040901" y="3959352"/>
            <a:ext cx="2602154" cy="19202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7" name="Text 54"/>
          <p:cNvSpPr txBox="1"/>
          <p:nvPr/>
        </p:nvSpPr>
        <p:spPr>
          <a:xfrm>
            <a:off x="548640" y="596188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— к неделе 31.08–06.09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ru-RU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ru-RU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Текущий спринт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Текущий спринт 10.09–24.09: статусы задач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из 19 задач успеваем, 5 под вопросом; у каскадной регистрации блокер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 txBox="1"/>
          <p:nvPr/>
        </p:nvSpPr>
        <p:spPr>
          <a:xfrm>
            <a:off x="685800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задач в спринте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63392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 txBox="1"/>
          <p:nvPr/>
        </p:nvSpPr>
        <p:spPr>
          <a:xfrm>
            <a:off x="3500552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успеваем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78144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 txBox="1"/>
          <p:nvPr/>
        </p:nvSpPr>
        <p:spPr>
          <a:xfrm>
            <a:off x="6315304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B86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под вопросом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992895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 txBox="1"/>
          <p:nvPr/>
        </p:nvSpPr>
        <p:spPr>
          <a:xfrm>
            <a:off x="9130055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в разработке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2542032"/>
            <a:ext cx="5432908" cy="365760"/>
          </a:xfrm>
          <a:prstGeom prst="roundRect">
            <a:avLst>
              <a:gd name="adj" fmla="val 20000"/>
            </a:avLst>
          </a:prstGeom>
          <a:solidFill>
            <a:srgbClr val="B8661A"/>
          </a:solidFill>
          <a:ln w="12700">
            <a:solidFill>
              <a:srgbClr val="B8661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 txBox="1"/>
          <p:nvPr/>
        </p:nvSpPr>
        <p:spPr>
          <a:xfrm>
            <a:off x="685800" y="2542032"/>
            <a:ext cx="5158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 вопросом  5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2980944"/>
            <a:ext cx="5432908" cy="588874"/>
          </a:xfrm>
          <a:prstGeom prst="roundRect">
            <a:avLst>
              <a:gd name="adj" fmla="val 12422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7"/>
          <p:cNvSpPr txBox="1"/>
          <p:nvPr/>
        </p:nvSpPr>
        <p:spPr>
          <a:xfrm>
            <a:off x="676656" y="3035808"/>
            <a:ext cx="5176876" cy="4791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B86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разработке · MASHINA-190, MASH-1080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Каскадная регистрация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Блокер: Макс ждёт креды от Юрия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3642970"/>
            <a:ext cx="5432908" cy="588874"/>
          </a:xfrm>
          <a:prstGeom prst="roundRect">
            <a:avLst>
              <a:gd name="adj" fmla="val 12422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 txBox="1"/>
          <p:nvPr/>
        </p:nvSpPr>
        <p:spPr>
          <a:xfrm>
            <a:off x="676656" y="3697834"/>
            <a:ext cx="5176876" cy="4791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B86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· MASHINA-163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Кредитный потенциал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Предодобренный кредит; тестовая среда — Эрбол, во вторник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4304995"/>
            <a:ext cx="5432908" cy="588874"/>
          </a:xfrm>
          <a:prstGeom prst="roundRect">
            <a:avLst>
              <a:gd name="adj" fmla="val 12422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1"/>
          <p:cNvSpPr txBox="1"/>
          <p:nvPr/>
        </p:nvSpPr>
        <p:spPr>
          <a:xfrm>
            <a:off x="676656" y="4359859"/>
            <a:ext cx="5176876" cy="4791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B86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 · MASHINA-244, MASH-1096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Кэшбэк 22% на страховку при покупке у нас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4967021"/>
            <a:ext cx="5432908" cy="588874"/>
          </a:xfrm>
          <a:prstGeom prst="roundRect">
            <a:avLst>
              <a:gd name="adj" fmla="val 12422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3"/>
          <p:cNvSpPr txBox="1"/>
          <p:nvPr/>
        </p:nvSpPr>
        <p:spPr>
          <a:xfrm>
            <a:off x="676656" y="5021885"/>
            <a:ext cx="5176876" cy="4791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B86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Вернуть золото / серебро / бронзу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 объявлений с платным продвижением в выдаче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48640" y="5629046"/>
            <a:ext cx="5432908" cy="588874"/>
          </a:xfrm>
          <a:prstGeom prst="roundRect">
            <a:avLst>
              <a:gd name="adj" fmla="val 12422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5"/>
          <p:cNvSpPr txBox="1"/>
          <p:nvPr/>
        </p:nvSpPr>
        <p:spPr>
          <a:xfrm>
            <a:off x="676656" y="5683910"/>
            <a:ext cx="5176876" cy="4791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B86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разработке · MASHINA-250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Ивенты для пушей и отчётов по VIN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Нужны, чтобы считать эффект рассылки и кнопки в карточке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210148" y="2542032"/>
            <a:ext cx="5432908" cy="365760"/>
          </a:xfrm>
          <a:prstGeom prst="roundRect">
            <a:avLst>
              <a:gd name="adj" fmla="val 20000"/>
            </a:avLst>
          </a:prstGeom>
          <a:solidFill>
            <a:srgbClr val="2F8A62"/>
          </a:solidFill>
          <a:ln w="12700">
            <a:solidFill>
              <a:srgbClr val="2F8A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7"/>
          <p:cNvSpPr txBox="1"/>
          <p:nvPr/>
        </p:nvSpPr>
        <p:spPr>
          <a:xfrm>
            <a:off x="6347308" y="2542032"/>
            <a:ext cx="5158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Успеваем  14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319876" y="2980944"/>
            <a:ext cx="5213452" cy="231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показа объявлений по тарифам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MP-367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319876" y="3212157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0"/>
          <p:cNvSpPr txBox="1"/>
          <p:nvPr/>
        </p:nvSpPr>
        <p:spPr>
          <a:xfrm>
            <a:off x="6319876" y="3212157"/>
            <a:ext cx="5213452" cy="231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Промо: 2 Instagram-аккаунта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MP-366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319876" y="3443369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2"/>
          <p:cNvSpPr txBox="1"/>
          <p:nvPr/>
        </p:nvSpPr>
        <p:spPr>
          <a:xfrm>
            <a:off x="6319876" y="3443369"/>
            <a:ext cx="5213452" cy="231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Архивные объявления: «Снято с публикации»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MASH-1083…1085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319876" y="3674582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Text 34"/>
          <p:cNvSpPr txBox="1"/>
          <p:nvPr/>
        </p:nvSpPr>
        <p:spPr>
          <a:xfrm>
            <a:off x="6319876" y="3674582"/>
            <a:ext cx="5213452" cy="231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Звонок без авторизации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MASHINA-208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319876" y="3905794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Text 36"/>
          <p:cNvSpPr txBox="1"/>
          <p:nvPr/>
        </p:nvSpPr>
        <p:spPr>
          <a:xfrm>
            <a:off x="6319876" y="3905794"/>
            <a:ext cx="5213452" cy="231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Страхование: 3 новые страховые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MASH-1063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6319876" y="4137007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1" name="Text 38"/>
          <p:cNvSpPr txBox="1"/>
          <p:nvPr/>
        </p:nvSpPr>
        <p:spPr>
          <a:xfrm>
            <a:off x="6319876" y="4137007"/>
            <a:ext cx="5213452" cy="231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Закрепить кнопку «Пополнить баланс»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MP-336, MP-337, MASH-1089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6319876" y="4368219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3" name="Text 40"/>
          <p:cNvSpPr txBox="1"/>
          <p:nvPr/>
        </p:nvSpPr>
        <p:spPr>
          <a:xfrm>
            <a:off x="6319876" y="4368219"/>
            <a:ext cx="5213452" cy="231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Правки интерфейса по Figma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MASH-1086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6319876" y="4599432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5" name="Text 42"/>
          <p:cNvSpPr txBox="1"/>
          <p:nvPr/>
        </p:nvSpPr>
        <p:spPr>
          <a:xfrm>
            <a:off x="6319876" y="4599432"/>
            <a:ext cx="5213452" cy="231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Скрыть кнопку «Удалить аккаунт»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MASH-1112, MASH-1113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6319876" y="4830645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7" name="Text 44"/>
          <p:cNvSpPr txBox="1"/>
          <p:nvPr/>
        </p:nvSpPr>
        <p:spPr>
          <a:xfrm>
            <a:off x="6319876" y="4830645"/>
            <a:ext cx="5213452" cy="231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Бейдж непрочитанных на иконке приложения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6319876" y="5061857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9" name="Text 46"/>
          <p:cNvSpPr txBox="1"/>
          <p:nvPr/>
        </p:nvSpPr>
        <p:spPr>
          <a:xfrm>
            <a:off x="6319876" y="5061857"/>
            <a:ext cx="5213452" cy="231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Популярные марки и модели первыми в фильтре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хардкодом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6319876" y="5293070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1" name="Text 48"/>
          <p:cNvSpPr txBox="1"/>
          <p:nvPr/>
        </p:nvSpPr>
        <p:spPr>
          <a:xfrm>
            <a:off x="6319876" y="5293070"/>
            <a:ext cx="5213452" cy="231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Ссылка на WebView РИОМ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6319876" y="5524282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3" name="Text 50"/>
          <p:cNvSpPr txBox="1"/>
          <p:nvPr/>
        </p:nvSpPr>
        <p:spPr>
          <a:xfrm>
            <a:off x="6319876" y="5524282"/>
            <a:ext cx="5213452" cy="231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 после смены пароля и регистрации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MASH-1138</a:t>
            </a:r>
            <a:endParaRPr lang="en-US" sz="1400" dirty="0"/>
          </a:p>
        </p:txBody>
      </p:sp>
      <p:sp>
        <p:nvSpPr>
          <p:cNvPr id="54" name="Shape 51"/>
          <p:cNvSpPr/>
          <p:nvPr/>
        </p:nvSpPr>
        <p:spPr>
          <a:xfrm>
            <a:off x="6319876" y="5755495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5" name="Text 52"/>
          <p:cNvSpPr txBox="1"/>
          <p:nvPr/>
        </p:nvSpPr>
        <p:spPr>
          <a:xfrm>
            <a:off x="6319876" y="5755495"/>
            <a:ext cx="5213452" cy="231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 и время в истории оплат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MASH-1143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6319876" y="5986707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7" name="Text 54"/>
          <p:cNvSpPr txBox="1"/>
          <p:nvPr/>
        </p:nvSpPr>
        <p:spPr>
          <a:xfrm>
            <a:off x="6319876" y="5986707"/>
            <a:ext cx="5213452" cy="231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 текста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в описании «Готово»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6319876" y="6217920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</a:t>
            </a:r>
            <a:r>
              <a:rPr lang="ru-RU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Будущие спринты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Следующие спринты: 25.09–08.10 и 09.10–22.10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задачи в плане: 5 уже в QA, 18 на этапе требований; Apple Pay перенесена из текущего спринта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2087209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 txBox="1"/>
          <p:nvPr/>
        </p:nvSpPr>
        <p:spPr>
          <a:xfrm>
            <a:off x="685800" y="1783080"/>
            <a:ext cx="18128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задач в плане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800441" y="1783080"/>
            <a:ext cx="2087209" cy="566928"/>
          </a:xfrm>
          <a:prstGeom prst="roundRect">
            <a:avLst>
              <a:gd name="adj" fmla="val 12903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 txBox="1"/>
          <p:nvPr/>
        </p:nvSpPr>
        <p:spPr>
          <a:xfrm>
            <a:off x="2937601" y="1783080"/>
            <a:ext cx="18128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ru-RU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r>
              <a:rPr lang="ru-RU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анализе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52243" y="1783080"/>
            <a:ext cx="2087209" cy="566928"/>
          </a:xfrm>
          <a:prstGeom prst="roundRect">
            <a:avLst>
              <a:gd name="adj" fmla="val 12903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 txBox="1"/>
          <p:nvPr/>
        </p:nvSpPr>
        <p:spPr>
          <a:xfrm>
            <a:off x="5189403" y="1783080"/>
            <a:ext cx="18128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B86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ru-RU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Нужны требования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304044" y="1783080"/>
            <a:ext cx="2087209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 txBox="1"/>
          <p:nvPr/>
        </p:nvSpPr>
        <p:spPr>
          <a:xfrm>
            <a:off x="7441204" y="1783080"/>
            <a:ext cx="18128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в спринте 25.09–08.10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555846" y="1783080"/>
            <a:ext cx="2087209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 txBox="1"/>
          <p:nvPr/>
        </p:nvSpPr>
        <p:spPr>
          <a:xfrm>
            <a:off x="9693006" y="1783080"/>
            <a:ext cx="18128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в спринте 09.10–22.10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2542032"/>
            <a:ext cx="5432908" cy="365760"/>
          </a:xfrm>
          <a:prstGeom prst="roundRect">
            <a:avLst>
              <a:gd name="adj" fmla="val 20000"/>
            </a:avLst>
          </a:prstGeom>
          <a:solidFill>
            <a:srgbClr val="24324A"/>
          </a:solidFill>
          <a:ln w="12700">
            <a:solidFill>
              <a:srgbClr val="243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7"/>
          <p:cNvSpPr txBox="1"/>
          <p:nvPr/>
        </p:nvSpPr>
        <p:spPr>
          <a:xfrm>
            <a:off x="685800" y="2542032"/>
            <a:ext cx="5158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Спринт 25.09–08.10  16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" y="2980944"/>
            <a:ext cx="5213452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Пополнить и оплатить в один шаг</a:t>
            </a:r>
            <a:r>
              <a:rPr lang="en-US" sz="95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QA · MASHINA-245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58368" y="3183255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0"/>
          <p:cNvSpPr txBox="1"/>
          <p:nvPr/>
        </p:nvSpPr>
        <p:spPr>
          <a:xfrm>
            <a:off x="658368" y="3183255"/>
            <a:ext cx="5213452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 «Проверить авто» в карточке</a:t>
            </a:r>
            <a:r>
              <a:rPr lang="en-US" sz="95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QA · MASHINA-247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58368" y="3385566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 txBox="1"/>
          <p:nvPr/>
        </p:nvSpPr>
        <p:spPr>
          <a:xfrm>
            <a:off x="658368" y="3385566"/>
            <a:ext cx="5213452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MVP-лендинг автокредитования</a:t>
            </a:r>
            <a:r>
              <a:rPr lang="en-US" sz="95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QA · MASHINA-177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58368" y="3587877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4"/>
          <p:cNvSpPr txBox="1"/>
          <p:nvPr/>
        </p:nvSpPr>
        <p:spPr>
          <a:xfrm>
            <a:off x="658368" y="3587877"/>
            <a:ext cx="5213452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Доработка админки для пушей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QA · MASHINA-249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58368" y="3790188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6"/>
          <p:cNvSpPr txBox="1"/>
          <p:nvPr/>
        </p:nvSpPr>
        <p:spPr>
          <a:xfrm>
            <a:off x="658368" y="3790188"/>
            <a:ext cx="5213452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Переработать бесплатный тариф</a:t>
            </a:r>
            <a:r>
              <a:rPr lang="en-US" sz="95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 · MASHINA-252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30" name="Shape 27"/>
          <p:cNvSpPr/>
          <p:nvPr/>
        </p:nvSpPr>
        <p:spPr>
          <a:xfrm>
            <a:off x="658368" y="3992499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8"/>
          <p:cNvSpPr txBox="1"/>
          <p:nvPr/>
        </p:nvSpPr>
        <p:spPr>
          <a:xfrm>
            <a:off x="658368" y="3992499"/>
            <a:ext cx="5213452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Гараж</a:t>
            </a:r>
            <a:r>
              <a:rPr lang="en-US" sz="95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 · MASHINA-165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32" name="Shape 29"/>
          <p:cNvSpPr/>
          <p:nvPr/>
        </p:nvSpPr>
        <p:spPr>
          <a:xfrm>
            <a:off x="658368" y="4194810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0"/>
          <p:cNvSpPr txBox="1"/>
          <p:nvPr/>
        </p:nvSpPr>
        <p:spPr>
          <a:xfrm>
            <a:off x="658368" y="4194810"/>
            <a:ext cx="5213452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Пакеты отчётов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 · MASHINA-248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58368" y="4397121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2"/>
          <p:cNvSpPr txBox="1"/>
          <p:nvPr/>
        </p:nvSpPr>
        <p:spPr>
          <a:xfrm>
            <a:off x="658368" y="4397121"/>
            <a:ext cx="5213452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Упрощённая авторизация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58368" y="4599432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Text 34"/>
          <p:cNvSpPr txBox="1"/>
          <p:nvPr/>
        </p:nvSpPr>
        <p:spPr>
          <a:xfrm>
            <a:off x="658368" y="4599432"/>
            <a:ext cx="5213452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Черновик объявления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 · MASHINA-228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58368" y="4801743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Text 36"/>
          <p:cNvSpPr txBox="1"/>
          <p:nvPr/>
        </p:nvSpPr>
        <p:spPr>
          <a:xfrm>
            <a:off x="658368" y="4801743"/>
            <a:ext cx="5213452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 на спецтехнику и сельхозтехнику</a:t>
            </a:r>
            <a:r>
              <a:rPr lang="en-US" sz="95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 · MASHINA-179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40" name="Shape 37"/>
          <p:cNvSpPr/>
          <p:nvPr/>
        </p:nvSpPr>
        <p:spPr>
          <a:xfrm>
            <a:off x="658368" y="5004054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1" name="Text 38"/>
          <p:cNvSpPr txBox="1"/>
          <p:nvPr/>
        </p:nvSpPr>
        <p:spPr>
          <a:xfrm>
            <a:off x="658368" y="5004054"/>
            <a:ext cx="5213452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Статусы заявки автофинансирования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 · MASHINA-253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658368" y="5206365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3" name="Text 40"/>
          <p:cNvSpPr txBox="1"/>
          <p:nvPr/>
        </p:nvSpPr>
        <p:spPr>
          <a:xfrm>
            <a:off x="658368" y="5206365"/>
            <a:ext cx="5213452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Автожурнал (блог)</a:t>
            </a:r>
            <a:r>
              <a:rPr lang="en-US" sz="95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 · MASHINA-226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44" name="Shape 41"/>
          <p:cNvSpPr/>
          <p:nvPr/>
        </p:nvSpPr>
        <p:spPr>
          <a:xfrm>
            <a:off x="658368" y="5408676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5" name="Text 42"/>
          <p:cNvSpPr txBox="1"/>
          <p:nvPr/>
        </p:nvSpPr>
        <p:spPr>
          <a:xfrm>
            <a:off x="658368" y="5408676"/>
            <a:ext cx="5213452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Пуш о снижении цены избранного объявления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658368" y="5610987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7" name="Text 44"/>
          <p:cNvSpPr txBox="1"/>
          <p:nvPr/>
        </p:nvSpPr>
        <p:spPr>
          <a:xfrm>
            <a:off x="658368" y="5610987"/>
            <a:ext cx="5213452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Флоу фильтрации и создания объявления в мобилке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658368" y="5813298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9" name="Text 46"/>
          <p:cNvSpPr txBox="1"/>
          <p:nvPr/>
        </p:nvSpPr>
        <p:spPr>
          <a:xfrm>
            <a:off x="658368" y="5813298"/>
            <a:ext cx="5213452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Попап с оценкой приложения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658368" y="6015609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1" name="Text 48"/>
          <p:cNvSpPr txBox="1"/>
          <p:nvPr/>
        </p:nvSpPr>
        <p:spPr>
          <a:xfrm>
            <a:off x="658368" y="6015609"/>
            <a:ext cx="5213452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Ивенты для маркетинга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658368" y="6217920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3" name="Shape 50"/>
          <p:cNvSpPr/>
          <p:nvPr/>
        </p:nvSpPr>
        <p:spPr>
          <a:xfrm>
            <a:off x="6210148" y="2542032"/>
            <a:ext cx="5432908" cy="365760"/>
          </a:xfrm>
          <a:prstGeom prst="roundRect">
            <a:avLst>
              <a:gd name="adj" fmla="val 20000"/>
            </a:avLst>
          </a:prstGeom>
          <a:solidFill>
            <a:srgbClr val="24324A"/>
          </a:solidFill>
          <a:ln w="12700">
            <a:solidFill>
              <a:srgbClr val="243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4" name="Text 51"/>
          <p:cNvSpPr txBox="1"/>
          <p:nvPr/>
        </p:nvSpPr>
        <p:spPr>
          <a:xfrm>
            <a:off x="6347308" y="2542032"/>
            <a:ext cx="5158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Спринт 09.10–22.10  8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6319876" y="2980944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Instagram: календарь и бронирование слота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QA · MASHINA-215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6319876" y="3291840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7" name="Text 54"/>
          <p:cNvSpPr txBox="1"/>
          <p:nvPr/>
        </p:nvSpPr>
        <p:spPr>
          <a:xfrm>
            <a:off x="6319876" y="3291840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Оплата через Apple Pay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перенесена из 10.09–24.09 · расчёты от Юры, синк с Рахатом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6319876" y="3602736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9" name="Text 56"/>
          <p:cNvSpPr txBox="1"/>
          <p:nvPr/>
        </p:nvSpPr>
        <p:spPr>
          <a:xfrm>
            <a:off x="6319876" y="3602736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Запчасти: навигация и фильтры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 · MASHINA-175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6319876" y="3913632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1" name="Text 58"/>
          <p:cNvSpPr txBox="1"/>
          <p:nvPr/>
        </p:nvSpPr>
        <p:spPr>
          <a:xfrm>
            <a:off x="6319876" y="3913632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Лендинг по страхованию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 · MASHINA-193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6319876" y="4224528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3" name="Text 60"/>
          <p:cNvSpPr txBox="1"/>
          <p:nvPr/>
        </p:nvSpPr>
        <p:spPr>
          <a:xfrm>
            <a:off x="6319876" y="4224528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Коммуникации по триггерам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 · MASHINA-251</a:t>
            </a:r>
            <a:endParaRPr lang="en-US" sz="1400" dirty="0"/>
          </a:p>
        </p:txBody>
      </p:sp>
      <p:sp>
        <p:nvSpPr>
          <p:cNvPr id="64" name="Shape 61"/>
          <p:cNvSpPr/>
          <p:nvPr/>
        </p:nvSpPr>
        <p:spPr>
          <a:xfrm>
            <a:off x="6319876" y="4535424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5" name="Text 62"/>
          <p:cNvSpPr txBox="1"/>
          <p:nvPr/>
        </p:nvSpPr>
        <p:spPr>
          <a:xfrm>
            <a:off x="6319876" y="4535424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Ивенты для коммуникаций по триггерам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6319876" y="4846320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7" name="Text 64"/>
          <p:cNvSpPr txBox="1"/>
          <p:nvPr/>
        </p:nvSpPr>
        <p:spPr>
          <a:xfrm>
            <a:off x="6319876" y="4846320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Аренда авто и спецтехники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</a:t>
            </a:r>
            <a:endParaRPr lang="en-US" sz="1400" dirty="0"/>
          </a:p>
        </p:txBody>
      </p:sp>
      <p:sp>
        <p:nvSpPr>
          <p:cNvPr id="68" name="Shape 65"/>
          <p:cNvSpPr/>
          <p:nvPr/>
        </p:nvSpPr>
        <p:spPr>
          <a:xfrm>
            <a:off x="6319876" y="5157216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9" name="Text 66"/>
          <p:cNvSpPr txBox="1"/>
          <p:nvPr/>
        </p:nvSpPr>
        <p:spPr>
          <a:xfrm>
            <a:off x="6319876" y="5157216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Партнёрство с автоэвакуаторами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</a:t>
            </a:r>
            <a:endParaRPr lang="en-US" sz="1400" dirty="0"/>
          </a:p>
        </p:txBody>
      </p:sp>
      <p:sp>
        <p:nvSpPr>
          <p:cNvPr id="70" name="Shape 67"/>
          <p:cNvSpPr/>
          <p:nvPr/>
        </p:nvSpPr>
        <p:spPr>
          <a:xfrm>
            <a:off x="6319876" y="5468112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1151</Words>
  <Application>Microsoft Office PowerPoint</Application>
  <PresentationFormat>Широкоэкранный</PresentationFormat>
  <Paragraphs>126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Mashina.kg</dc:title>
  <dc:subject>PptxGenJS Presentation</dc:subject>
  <dc:creator>PptxGenJS</dc:creator>
  <cp:lastModifiedBy>Олег Исиченко</cp:lastModifiedBy>
  <cp:revision>8</cp:revision>
  <dcterms:created xsi:type="dcterms:W3CDTF">2026-09-15T04:07:33Z</dcterms:created>
  <dcterms:modified xsi:type="dcterms:W3CDTF">2026-09-15T08:03:08Z</dcterms:modified>
</cp:coreProperties>
</file>