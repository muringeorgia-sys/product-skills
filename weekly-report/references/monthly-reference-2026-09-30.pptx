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2" r:id="rId5"/>
    <p:sldId id="259" r:id="rId6"/>
    <p:sldId id="260" r:id="rId7"/>
    <p:sldId id="263" r:id="rId8"/>
    <p:sldId id="264" r:id="rId9"/>
    <p:sldId id="265" r:id="rId10"/>
    <p:sldId id="269" r:id="rId11"/>
    <p:sldId id="267" r:id="rId12"/>
    <p:sldId id="268" r:id="rId13"/>
    <p:sldId id="266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4324A"/>
                </a:solidFill>
                <a:latin typeface="Arial"/>
              </a:defRPr>
            </a:pPr>
            <a:r>
              <a:rPr lang="ru-RU" sz="1200" b="0" i="0" u="none" strike="noStrike">
                <a:solidFill>
                  <a:srgbClr val="24324A"/>
                </a:solidFill>
                <a:latin typeface="Arial"/>
              </a:rPr>
              <a:t>Выручка, сом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План</c:v>
                </c:pt>
              </c:strCache>
            </c:strRef>
          </c:tx>
          <c:spPr>
            <a:solidFill>
              <a:srgbClr val="9DB4D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667085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8">
                  <c:v>8828336</c:v>
                </c:pt>
                <c:pt idx="9">
                  <c:v>9349996</c:v>
                </c:pt>
                <c:pt idx="10">
                  <c:v>9948488</c:v>
                </c:pt>
                <c:pt idx="11">
                  <c:v>10438738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0A-48AE-AD2A-2665B12600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Факт</c:v>
                </c:pt>
              </c:strCache>
            </c:strRef>
          </c:tx>
          <c:spPr>
            <a:solidFill>
              <a:srgbClr val="315BA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667085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5186651</c:v>
                </c:pt>
                <c:pt idx="1">
                  <c:v>5047527</c:v>
                </c:pt>
                <c:pt idx="2">
                  <c:v>6341517</c:v>
                </c:pt>
                <c:pt idx="3">
                  <c:v>6024594</c:v>
                </c:pt>
                <c:pt idx="4">
                  <c:v>4679076</c:v>
                </c:pt>
                <c:pt idx="5">
                  <c:v>5972881</c:v>
                </c:pt>
                <c:pt idx="6">
                  <c:v>8052420</c:v>
                </c:pt>
                <c:pt idx="7">
                  <c:v>8073045</c:v>
                </c:pt>
                <c:pt idx="8">
                  <c:v>8677521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90A-48AE-AD2A-2665B12600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2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67085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4324A"/>
                </a:solidFill>
                <a:latin typeface="Arial"/>
              </a:defRPr>
            </a:pPr>
            <a:r>
              <a:rPr lang="ru-RU" sz="1200" b="0" i="0" u="none" strike="noStrike">
                <a:solidFill>
                  <a:srgbClr val="24324A"/>
                </a:solidFill>
                <a:latin typeface="Arial"/>
              </a:rPr>
              <a:t>Новых объявлений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План</c:v>
                </c:pt>
              </c:strCache>
            </c:strRef>
          </c:tx>
          <c:spPr>
            <a:solidFill>
              <a:srgbClr val="9DB4D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667085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8">
                  <c:v>26402</c:v>
                </c:pt>
                <c:pt idx="9">
                  <c:v>27828</c:v>
                </c:pt>
                <c:pt idx="10">
                  <c:v>27469</c:v>
                </c:pt>
                <c:pt idx="11">
                  <c:v>28952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56-49A7-ACF7-99EA9B233C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Факт</c:v>
                </c:pt>
              </c:strCache>
            </c:strRef>
          </c:tx>
          <c:spPr>
            <a:solidFill>
              <a:srgbClr val="315BA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667085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40746</c:v>
                </c:pt>
                <c:pt idx="1">
                  <c:v>31988</c:v>
                </c:pt>
                <c:pt idx="2">
                  <c:v>77250</c:v>
                </c:pt>
                <c:pt idx="3">
                  <c:v>65591</c:v>
                </c:pt>
                <c:pt idx="4">
                  <c:v>30487</c:v>
                </c:pt>
                <c:pt idx="5">
                  <c:v>25619</c:v>
                </c:pt>
                <c:pt idx="6">
                  <c:v>27600</c:v>
                </c:pt>
                <c:pt idx="7">
                  <c:v>26160</c:v>
                </c:pt>
                <c:pt idx="8">
                  <c:v>21783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F56-49A7-ACF7-99EA9B233C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2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67085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4324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24324A"/>
                </a:solidFill>
                <a:latin typeface="Arial"/>
              </a:rPr>
              <a:t>MPAU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План</c:v>
                </c:pt>
              </c:strCache>
            </c:strRef>
          </c:tx>
          <c:spPr>
            <a:solidFill>
              <a:srgbClr val="9DB4D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667085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8">
                  <c:v>5942</c:v>
                </c:pt>
                <c:pt idx="9">
                  <c:v>6257</c:v>
                </c:pt>
                <c:pt idx="10">
                  <c:v>6444</c:v>
                </c:pt>
                <c:pt idx="11">
                  <c:v>6779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A0-4241-88FE-C60C59E3CFD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Факт</c:v>
                </c:pt>
              </c:strCache>
            </c:strRef>
          </c:tx>
          <c:spPr>
            <a:solidFill>
              <a:srgbClr val="315BA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667085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8561</c:v>
                </c:pt>
                <c:pt idx="1">
                  <c:v>8588</c:v>
                </c:pt>
                <c:pt idx="2">
                  <c:v>9083</c:v>
                </c:pt>
                <c:pt idx="3">
                  <c:v>8980</c:v>
                </c:pt>
                <c:pt idx="4">
                  <c:v>6414</c:v>
                </c:pt>
                <c:pt idx="5">
                  <c:v>5167</c:v>
                </c:pt>
                <c:pt idx="6">
                  <c:v>5494</c:v>
                </c:pt>
                <c:pt idx="7">
                  <c:v>5970</c:v>
                </c:pt>
                <c:pt idx="8">
                  <c:v>6796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A0-4241-88FE-C60C59E3CF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2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67085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4324A"/>
                </a:solidFill>
                <a:latin typeface="Arial"/>
              </a:defRPr>
            </a:pPr>
            <a:r>
              <a:rPr lang="ru-RU" sz="1200" b="0" i="0" u="none" strike="noStrike">
                <a:solidFill>
                  <a:srgbClr val="24324A"/>
                </a:solidFill>
                <a:latin typeface="Arial"/>
              </a:rPr>
              <a:t>Средний депозит, сом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План</c:v>
                </c:pt>
              </c:strCache>
            </c:strRef>
          </c:tx>
          <c:spPr>
            <a:solidFill>
              <a:srgbClr val="9DB4D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667085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8">
                  <c:v>1261</c:v>
                </c:pt>
                <c:pt idx="9">
                  <c:v>1266</c:v>
                </c:pt>
                <c:pt idx="10">
                  <c:v>1309</c:v>
                </c:pt>
                <c:pt idx="11">
                  <c:v>1323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82-4DBF-BDBA-5953254C10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Факт</c:v>
                </c:pt>
              </c:strCache>
            </c:strRef>
          </c:tx>
          <c:spPr>
            <a:solidFill>
              <a:srgbClr val="315BA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50" b="0" i="0" u="none" strike="noStrike">
                    <a:solidFill>
                      <a:srgbClr val="667085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788</c:v>
                </c:pt>
                <c:pt idx="1">
                  <c:v>813</c:v>
                </c:pt>
                <c:pt idx="2">
                  <c:v>881</c:v>
                </c:pt>
                <c:pt idx="3">
                  <c:v>894</c:v>
                </c:pt>
                <c:pt idx="4">
                  <c:v>865</c:v>
                </c:pt>
                <c:pt idx="5">
                  <c:v>946</c:v>
                </c:pt>
                <c:pt idx="6">
                  <c:v>1004</c:v>
                </c:pt>
                <c:pt idx="7">
                  <c:v>1118</c:v>
                </c:pt>
                <c:pt idx="8">
                  <c:v>1199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82-4DBF-BDBA-5953254C10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2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67085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Выполнение плана, %</c:v>
                </c:pt>
              </c:strCache>
            </c:strRef>
          </c:tx>
          <c:spPr>
            <a:solidFill>
              <a:srgbClr val="C84D4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DD5-4EBC-AD7E-11624E769CDA}"/>
              </c:ext>
            </c:extLst>
          </c:dPt>
          <c:dPt>
            <c:idx val="1"/>
            <c:invertIfNegative val="0"/>
            <c:bubble3D val="0"/>
            <c:spPr>
              <a:solidFill>
                <a:srgbClr val="B866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DD5-4EBC-AD7E-11624E769CDA}"/>
              </c:ext>
            </c:extLst>
          </c:dPt>
          <c:dPt>
            <c:idx val="2"/>
            <c:invertIfNegative val="0"/>
            <c:bubble3D val="0"/>
            <c:spPr>
              <a:solidFill>
                <a:srgbClr val="2F8A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DD5-4EBC-AD7E-11624E769CDA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2DD5-4EBC-AD7E-11624E769CDA}"/>
              </c:ext>
            </c:extLst>
          </c:dPt>
          <c:dPt>
            <c:idx val="4"/>
            <c:invertIfNegative val="0"/>
            <c:bubble3D val="0"/>
            <c:spPr>
              <a:solidFill>
                <a:srgbClr val="2F8A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DD5-4EBC-AD7E-11624E769CDA}"/>
              </c:ext>
            </c:extLst>
          </c:dPt>
          <c:dPt>
            <c:idx val="5"/>
            <c:invertIfNegative val="0"/>
            <c:bubble3D val="0"/>
            <c:spPr>
              <a:solidFill>
                <a:srgbClr val="2F8A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DD5-4EBC-AD7E-11624E769CDA}"/>
              </c:ext>
            </c:extLst>
          </c:dPt>
          <c:dPt>
            <c:idx val="6"/>
            <c:invertIfNegative val="0"/>
            <c:bubble3D val="0"/>
            <c:spPr>
              <a:solidFill>
                <a:srgbClr val="2F8A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DD5-4EBC-AD7E-11624E769CDA}"/>
              </c:ext>
            </c:extLst>
          </c:dPt>
          <c:dPt>
            <c:idx val="7"/>
            <c:invertIfNegative val="0"/>
            <c:bubble3D val="0"/>
            <c:spPr>
              <a:solidFill>
                <a:srgbClr val="2F8A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2DD5-4EBC-AD7E-11624E769CDA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667085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Страхование</c:v>
                </c:pt>
                <c:pt idx="1">
                  <c:v>Лизинг</c:v>
                </c:pt>
                <c:pt idx="2">
                  <c:v>Кредиты MBANK</c:v>
                </c:pt>
                <c:pt idx="3">
                  <c:v>Отчёты</c:v>
                </c:pt>
                <c:pt idx="4">
                  <c:v>Публикации</c:v>
                </c:pt>
                <c:pt idx="5">
                  <c:v>Бизнес аккаунты</c:v>
                </c:pt>
                <c:pt idx="6">
                  <c:v>Промо</c:v>
                </c:pt>
                <c:pt idx="7">
                  <c:v>Mashina.kg — итого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</c:v>
                </c:pt>
                <c:pt idx="2">
                  <c:v>170</c:v>
                </c:pt>
                <c:pt idx="3">
                  <c:v>62</c:v>
                </c:pt>
                <c:pt idx="4">
                  <c:v>114</c:v>
                </c:pt>
                <c:pt idx="5">
                  <c:v>114</c:v>
                </c:pt>
                <c:pt idx="6">
                  <c:v>114</c:v>
                </c:pt>
                <c:pt idx="7">
                  <c:v>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2DD5-4EBC-AD7E-11624E769CD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0"/>
          <c:min val="0"/>
        </c:scaling>
        <c:delete val="0"/>
        <c:axPos val="b"/>
        <c:majorGridlines>
          <c:spPr>
            <a:ln w="6350" cap="flat">
              <a:solidFill>
                <a:srgbClr val="DC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Выполнение плана, %</c:v>
                </c:pt>
              </c:strCache>
            </c:strRef>
          </c:tx>
          <c:spPr>
            <a:solidFill>
              <a:srgbClr val="2F8A6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E10-4F46-85C0-D9E7DAE5738A}"/>
              </c:ext>
            </c:extLst>
          </c:dPt>
          <c:dPt>
            <c:idx val="1"/>
            <c:invertIfNegative val="0"/>
            <c:bubble3D val="0"/>
            <c:spPr>
              <a:solidFill>
                <a:srgbClr val="B866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E10-4F46-85C0-D9E7DAE5738A}"/>
              </c:ext>
            </c:extLst>
          </c:dPt>
          <c:dPt>
            <c:idx val="2"/>
            <c:invertIfNegative val="0"/>
            <c:bubble3D val="0"/>
            <c:spPr>
              <a:solidFill>
                <a:srgbClr val="C84D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E10-4F46-85C0-D9E7DAE5738A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E10-4F46-85C0-D9E7DAE5738A}"/>
              </c:ext>
            </c:extLst>
          </c:dPt>
          <c:dPt>
            <c:idx val="4"/>
            <c:invertIfNegative val="0"/>
            <c:bubble3D val="0"/>
            <c:spPr>
              <a:solidFill>
                <a:srgbClr val="C84D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E10-4F46-85C0-D9E7DAE5738A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667085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Выручка на дилера, сом</c:v>
                </c:pt>
                <c:pt idx="1">
                  <c:v>Платящие дилеры</c:v>
                </c:pt>
                <c:pt idx="2">
                  <c:v>Новых объявлений</c:v>
                </c:pt>
                <c:pt idx="3">
                  <c:v>Регистраций</c:v>
                </c:pt>
                <c:pt idx="4">
                  <c:v>Пополнения, сом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91</c:v>
                </c:pt>
                <c:pt idx="2">
                  <c:v>88</c:v>
                </c:pt>
                <c:pt idx="3">
                  <c:v>106</c:v>
                </c:pt>
                <c:pt idx="4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E10-4F46-85C0-D9E7DAE573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30"/>
          <c:min val="0"/>
        </c:scaling>
        <c:delete val="0"/>
        <c:axPos val="b"/>
        <c:majorGridlines>
          <c:spPr>
            <a:ln w="6350" cap="flat">
              <a:solidFill>
                <a:srgbClr val="DC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Выполнение плана, %</c:v>
                </c:pt>
              </c:strCache>
            </c:strRef>
          </c:tx>
          <c:spPr>
            <a:solidFill>
              <a:srgbClr val="B8661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A683-4636-B613-5C569931E792}"/>
              </c:ext>
            </c:extLst>
          </c:dPt>
          <c:dPt>
            <c:idx val="1"/>
            <c:invertIfNegative val="0"/>
            <c:bubble3D val="0"/>
            <c:spPr>
              <a:solidFill>
                <a:srgbClr val="2F8A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A683-4636-B613-5C569931E792}"/>
              </c:ext>
            </c:extLst>
          </c:dPt>
          <c:dPt>
            <c:idx val="2"/>
            <c:invertIfNegative val="0"/>
            <c:bubble3D val="0"/>
            <c:spPr>
              <a:solidFill>
                <a:srgbClr val="2F8A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A683-4636-B613-5C569931E792}"/>
              </c:ext>
            </c:extLst>
          </c:dPt>
          <c:dPt>
            <c:idx val="3"/>
            <c:invertIfNegative val="0"/>
            <c:bubble3D val="0"/>
            <c:spPr>
              <a:solidFill>
                <a:srgbClr val="C84D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A683-4636-B613-5C569931E792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683-4636-B613-5C569931E792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A683-4636-B613-5C569931E792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667085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Вернувшиеся</c:v>
                </c:pt>
                <c:pt idx="1">
                  <c:v>Удержание пополняющих</c:v>
                </c:pt>
                <c:pt idx="2">
                  <c:v>MPAU</c:v>
                </c:pt>
                <c:pt idx="3">
                  <c:v>Регистрация → пополнение</c:v>
                </c:pt>
                <c:pt idx="4">
                  <c:v>Пополняющие</c:v>
                </c:pt>
                <c:pt idx="5">
                  <c:v>Средний депозит, сом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92</c:v>
                </c:pt>
                <c:pt idx="1">
                  <c:v>102</c:v>
                </c:pt>
                <c:pt idx="2">
                  <c:v>123</c:v>
                </c:pt>
                <c:pt idx="3">
                  <c:v>83</c:v>
                </c:pt>
                <c:pt idx="4">
                  <c:v>94</c:v>
                </c:pt>
                <c:pt idx="5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A683-4636-B613-5C569931E7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30"/>
          <c:min val="0"/>
        </c:scaling>
        <c:delete val="0"/>
        <c:axPos val="b"/>
        <c:majorGridlines>
          <c:spPr>
            <a:ln w="6350" cap="flat">
              <a:solidFill>
                <a:srgbClr val="DC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Изменение к текущему уровню, %</c:v>
                </c:pt>
              </c:strCache>
            </c:strRef>
          </c:tx>
          <c:spPr>
            <a:solidFill>
              <a:srgbClr val="2F8A6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0A6-4224-9E34-52D26AD1C8B2}"/>
              </c:ext>
            </c:extLst>
          </c:dPt>
          <c:dPt>
            <c:idx val="1"/>
            <c:invertIfNegative val="0"/>
            <c:bubble3D val="0"/>
            <c:spPr>
              <a:solidFill>
                <a:srgbClr val="B866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0A6-4224-9E34-52D26AD1C8B2}"/>
              </c:ext>
            </c:extLst>
          </c:dPt>
          <c:dPt>
            <c:idx val="2"/>
            <c:invertIfNegative val="0"/>
            <c:bubble3D val="0"/>
            <c:spPr>
              <a:solidFill>
                <a:srgbClr val="B866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0A6-4224-9E34-52D26AD1C8B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0A6-4224-9E34-52D26AD1C8B2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0A6-4224-9E34-52D26AD1C8B2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A0A6-4224-9E34-52D26AD1C8B2}"/>
              </c:ext>
            </c:extLst>
          </c:dPt>
          <c:dPt>
            <c:idx val="6"/>
            <c:invertIfNegative val="0"/>
            <c:bubble3D val="0"/>
            <c:spPr>
              <a:solidFill>
                <a:srgbClr val="315B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0A6-4224-9E34-52D26AD1C8B2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A0A6-4224-9E34-52D26AD1C8B2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A0A6-4224-9E34-52D26AD1C8B2}"/>
              </c:ext>
            </c:extLst>
          </c:dPt>
          <c:dPt>
            <c:idx val="9"/>
            <c:invertIfNegative val="0"/>
            <c:bubble3D val="0"/>
            <c:spPr>
              <a:solidFill>
                <a:srgbClr val="B866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A0A6-4224-9E34-52D26AD1C8B2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A0A6-4224-9E34-52D26AD1C8B2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A0A6-4224-9E34-52D26AD1C8B2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667085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Вернувшиеся</c:v>
                </c:pt>
                <c:pt idx="1">
                  <c:v>Новых объявлений</c:v>
                </c:pt>
                <c:pt idx="2">
                  <c:v>Выручка на дилера, сом</c:v>
                </c:pt>
                <c:pt idx="3">
                  <c:v>Платящие дилеры</c:v>
                </c:pt>
                <c:pt idx="4">
                  <c:v>Удержание пополняющих</c:v>
                </c:pt>
                <c:pt idx="5">
                  <c:v>MPAU</c:v>
                </c:pt>
                <c:pt idx="6">
                  <c:v>Регистраций</c:v>
                </c:pt>
                <c:pt idx="7">
                  <c:v>Регистрация → пополнение</c:v>
                </c:pt>
                <c:pt idx="8">
                  <c:v>Пополняющие</c:v>
                </c:pt>
                <c:pt idx="9">
                  <c:v>Средний депозит, сом</c:v>
                </c:pt>
                <c:pt idx="10">
                  <c:v>Пополнения, сом</c:v>
                </c:pt>
                <c:pt idx="11">
                  <c:v>Выручка, сом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</c:v>
                </c:pt>
                <c:pt idx="1">
                  <c:v>-1</c:v>
                </c:pt>
                <c:pt idx="2">
                  <c:v>-7</c:v>
                </c:pt>
                <c:pt idx="3">
                  <c:v>8</c:v>
                </c:pt>
                <c:pt idx="4">
                  <c:v>5</c:v>
                </c:pt>
                <c:pt idx="5">
                  <c:v>12</c:v>
                </c:pt>
                <c:pt idx="6">
                  <c:v>0</c:v>
                </c:pt>
                <c:pt idx="7">
                  <c:v>10</c:v>
                </c:pt>
                <c:pt idx="8">
                  <c:v>8</c:v>
                </c:pt>
                <c:pt idx="9">
                  <c:v>-3</c:v>
                </c:pt>
                <c:pt idx="10">
                  <c:v>4</c:v>
                </c:pt>
                <c:pt idx="1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A0A6-4224-9E34-52D26AD1C8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"/>
          <c:min val="-10"/>
        </c:scaling>
        <c:delete val="0"/>
        <c:axPos val="b"/>
        <c:majorGridlines>
          <c:spPr>
            <a:ln w="6350" cap="flat">
              <a:solidFill>
                <a:srgbClr val="DC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7548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Отчёт за сентябрь 2026 на дату 28.09. Факт — полные дни месяца, 1–27 сентября. План — лист «Декомпозиция» Google Таблицы «Задачи Mashina.kg», колонка «Сентябрь». Объёмные показатели пересчитаны на 27 дней из 30 (коэффициент 0,9), уровневые (среднее пополнение, удержание, конверсия, выручка на дилера) взяты как есть. Сравнение с предыдущим периодом не показываем. Источники факта: Redash 430 (регистрации), 348 (новые объявления, category_group = car), SQL-выборки через Redash по таблице transactions (пополнения, пополняющие, MPAU, дилеры, удержание, новые и вернувшиеся). Спринты — листы 10.09-30.09, 24.09-07.10, 08.10-21.10, 22.10-04.11, выгрузка 28.09.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Отчёт о прибылях и убытках, строка Mashina (Classified); новые объявления — Redash 348; план сентября–декабря — лист «Декомпозиция»
Выручка: план стоит только с сентября — в отчёте о прибылях и убытках январь–август помечены как ФАКТ, отдельного плана на эти месяцы нет. Январь–август — факт из отчёта о прибылях и убытках (строка Mashina Classified), сентябрь — факт 8 677 521 сом на 28.09 из отчёта по выручке при плане месяца 8 828 336. Октябрь–декабрь — прогноз из того же отчёта: 9 349 996, 9 948 488, 10 438 738.
Новые объявления: план стоит только с сентября — за январь–август в листе «Декомпозиция» записан факт, отдельного плана на эти месяцы нет. Сентябрь: 21 783 легковых за 1–28.09 (частные 18 355, дилеры 3 428) при плане месяца 26 402; на 28 дней план 24 642, выполнение 88%.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Лист «Декомпозиция» Google Таблицы «Задачи Mashina.kg»; факт сентября — SQL-выборки через Redash по таблице transactions
План по обоим показателям стоит только с сентября: за январь–август в листе «Декомпозиция» записан факт, отдельного плана на эти месяцы нет.
MPAU — уникальные покупатели промо, бизнес-тарифа, публикации или отчёта. Сентябрь: 6 796 за 1–28.09 при плане месяца 5 942; на 28 дней план 5 546, выполнение 123%. Наш помесячный расчёт совпадает со строкой листа с точностью до единиц.
Средний депозит — сумма пополнений, делённая на число пополняющих. Сентябрь: 5 019 126 / 4 188 = 1 199 сом при плане 1 261, выполнение 95%. Показатель уровневый, на неполный месяц не пересчитывается.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Оценка по тому, что сейчас есть в Redash
Активные объявления — задача «ТЗ на дашборд по активным объявлениям» стоит в листе 08.10-21.10 в блоке «Задачи не для разработки» со статусом «Под вопросом». Пока North Star недоступна: счётчик на главной сайта и снимки в старых запросах неактуальны.
MAU — в Redash 438 есть DAU по платформам Android и iOS, сайта там нет; уникальных за месяц по всем платформам собрать не из чего.
ARPPU — выручка / платящие. Оба числа считаются SQL-выборкой, готового отчёта нет.
Покупки и средний чек по категориям — отчёт 364 даёт сумму и mpau по каждой строке выручки, но не число транзакций и не средний чек; 303 даёт это только по отчётам.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Отчёт по выручке «Сравнение с планом/прогнозом» на 28.09, блок Mashina.kg
Все числа из отчёта по выручке на 28.09, блок Mashina.kg, колонки «Факт» и «План на дату».
Итого: факт 8 677 521 при плане на дату 8 239 780 — выполнение 105,3%. План месяца 8 828 336, прогноз 9 367 807 (+539 471 к плану, +6%). К прошлому месяцу +1 310 993 (+16%).
Строки: промо 4 975 219 при 4 373 470 (+25% к прошлому месяцу); бизнес-аккаунты 654 554 при 575 386 (−12% к прошлому месяцу, при этом +14% к плану на дату); публикации 259 140 при 227 797; отчёты 263 772 при 427 897 (−38% к плану); кредиты MBANK 3 667 913 при 2 158 324 (+40% к прошлому месяцу); страхование 3 164 при 27 321 (−89% к плану).
Лизинг: ни факта, ни прогноза в отчёте нет, план на дату 449 585; в прошлом месяце 11 600 сом. Одобренных лидов у партнёров за сентябрь нет, поэтому 1% от сделки не начисляется.
Разница CashIn/CashOut −1 146 241 сом (в прошлом месяце +385 681) на слайде не выводится: у строки нет плана. Это разрыв между пополнениями и тратами — часть покупок оплачена с денег, которые уже лежали на балансе.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Redash 430 (регистрации), 348 (новые объявления), 536 (пополнения), 364 (дилеры). План — лист «Декомпозиция», пересчитан на 28 дней из 30
Показатели, которые берутся прямо из отчётов Redash или считаются из них без обращения к базе. Факт за 1–28.09.
Пополнения — Redash 536: 5 019 126 сом, план месяца 6 034 148 × 28/30 = 5 631 872.
Регистрации — Redash 430: 15 708, план 15 837 × 28/30 = 14 782.
Новые объявления — Redash 348, category_group = car: 21 783 (частные 18 355, дилеры 3 428), план 26 402 × 28/30 = 24 642.
Платящие дилеры — Redash 364, строка «Подписка дилера»: 124, план 147 × 28/30 = 137.
Выручка на платящего дилера — из той же строки: 654 554 / 124 = 5 279 сом, план 4 394 (уровень). Сумма 654 554 совпадает со строкой «Бизнес аккаунты» в отчёте по выручке.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Google Таблица «Задачи Mashina.kg», лист 10.09-30.09, выгрузка 28.09
Релиз выходит в последний день спринта — 30 сентября. В листе 17 задач, у всех этап «В разработке» и статус «Успеваем». Задачи разделены на две колонки только ради читаемости, стадия у всех одна. Колонки «Готово» в таблице нет, поэтому «успеваем» — это статус на 28.09, а не подтверждённый релиз. Ключи Jira: каскадная регистрация MASHINA-190 и MASH-1080, страхование MASH-1063, кэшбек MASHINA-244 и MASH-1096, ивенты MASHINA-250, разметка мобилки MASH-1285 и MASH-1287, правила показа MP-367, Instagram MP-366, «Пополнить баланс» MP-336, MP-337, MASH-1089, «Удалить аккаунт» MASH-1112 и MASH-1113, избранное MASH-1083…1085, звонок MASHINA-208, смена пароля MASH-1138, Figma MASH-1086.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Jira, сверка через браузер 30.09.2026. https://jira.mashina.kg/issues/?jql=project%3DMASHINA%20AND%20fixVersion%3D10115</a:t>
            </a:r>
          </a:p>
          <a:p>
            <a:r>
              <a:rPr lang="en-US" dirty="0"/>
              <a:t>Релиз 07.10.2026: 9 эпиков MASHINA-297–305 и 1 подзадача дизайна MASHINA-332. Восемь эпиков MASHINA-297–304: Готово к тех оценке. MASHINA-305 и дизайн MASHINA-332: Бэклог дизайна. В разработке 0 эпиков. Справа подзадача приведена как часть фичи и не увеличивает число фич.</a:t>
            </a:r>
          </a:p>
          <a:p>
            <a:r>
              <a:rPr lang="en-US" dirty="0"/>
              <a:t>Спринт 30.09–06.10, релиз 07.10: даты по уточнению Product Owner. В версии Jira начало 30.09, дата выпуска 07.10.</a:t>
            </a:r>
          </a:p>
          <a:p>
            <a:r>
              <a:rPr lang="en-US" dirty="0"/>
              <a:t>Числа и стадии старого листа Google Таблиц заменены текущими эпиками Jira. Статус готовности к релизу не подтверждён.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Jira, сверка через браузер 30.09.2026. https://jira.mashina.kg/issues/?jql=project%3DMASHINA%20AND%20fixVersion%20in%20(10108,10109)</a:t>
            </a:r>
          </a:p>
          <a:p>
            <a:r>
              <a:rPr lang="en-US" dirty="0"/>
              <a:t>21.10.2026: 7 эпиков (MASHINA-291,306–311), 3 подзадачи (333–335). Готово к тех оценке:291,308,309. Бэклог дизайна:306,307. Бэклог QA анализа:310. Формирование требований:311.</a:t>
            </a:r>
          </a:p>
          <a:p>
            <a:r>
              <a:rPr lang="en-US" dirty="0"/>
              <a:t>04.11.2026: 20 эпиков MASHINA-312–331, 5 подзадач MASHINA-336–340. Готово к тех оценке:312,313,314,315,317,318. Бэклог QA анализа:324,325,327,330. Бэклог дизайна:326. Формирование требований:316,319,320,321,322,323,328,329,331. На слайде сокращения Техоценка и Требования означают соответственно Готово к тех оценке и Формирование требований.</a:t>
            </a:r>
          </a:p>
          <a:p>
            <a:r>
              <a:rPr lang="en-US" dirty="0"/>
              <a:t>Всего 27 уникальных эпиков и 8 подзадач. Подзадачи в число фич не включены. Все версии невыпущенные. Даты указаны как план релиза, не как подтверждённый выпуск. Старый блок не для разработки из Google Таблиц исключён: он не подтверждён этой выборкой Jira. Старый комментарий об AI-поиске 29 октября не перенесён: текущая версия Jira 04.11.</a:t>
            </a:r>
          </a:p>
          <a:p>
            <a:r>
              <a:rPr lang="en-US" dirty="0"/>
              <a:t>Название MASHINA-306 в Jira: Срок жизни объявления + 50% скидка на первое промо. На слайде используется уточнённая механика из исходного PRD и слайда 12: кешбэк 50% за первое продление.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«План сервиса Гараж» от 09.09.2026 и PRD «Гараж. Этап 1», Confluence pageId 86869474
Релиз 21 октября. В листе 08.10-21.10 задача на этапе «Дизайн», ключ MASHINA-165. Метрики Этапа 1: активация (пользователи с ≥1 авто / MAU приложения), возврат в Гараж за 30 дней, конверсия в объявление с entry_point = garage, покупки из Гаража, доля завершивших добавление. Ограничения: интеграций с ГРС, Tolom.kg и Тундуком нет, VIN, госномер и пробег вводит пользователь. Открытые вопросы: кто в МБанке отвечает за интеграцию с ГРС, реальный срок интеграции, кэширование госданных, согласия по закону КР № 58.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PRD «Срок жизни объявления» от 22.09.2026, Confluence pageId 86869525
Релиз 21 октября. В листе 08.10-21.10 задача на этапе «Дизайн», ключи MASHINA-252 и MASHINA-198. В таблице задача названа «Срок жизни объявления + 50% скидка на первое промо», в PRD это кешбэк 50% бонусами за первое платное продление, один раз на пользователя, а не скидка на промо — формулировку в таблице стоит поправить. Цены: продление и активация — цена платной публикации в категории; продление под промо на M дней — цена публикации / 30 × M. Напоминания: день 27 — пуш, день 29 — пуш и SMS, день 30 — пуш о деактивации. Старой базе ставим срок 30 дней от даты релиза, досрочно никого не снимаем.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«Срок жизни объявления: влияние на показатели месяца» от 29.09.2026
Релиз 07.10. Auto up и лимит бесплатных работают сразу, продления и снятие старых объявлений — примерно с 03.11.
База — факт за 1–28 сентября из этого же отчёта. Эффект — прирост за месяц, когда фича работает полностью. В колонке «Изменение» — середина диапазона; для конверсии и удержания указаны пункты, столбец на диаграмме показывает относительное изменение.
Когда что сработает при релизе 07.10: с дня релиза — платный Auto up и одно бесплатное объявление на группу для новых объявлений (выручка, MPAU, пополняющие, новые объявления). Примерно с 03.11 — первые напоминания о сроке, продления и снятие старых объявлений. В ноябре разовая волна: все старые объявления истекают в один день, будет скачок продлений и пополнений в первую неделю, затем показатели выйдут на уровень из таблицы.
Выручка +100–220 тыс. сом: Auto up 50–95 тыс., лимит одного бесплатного объявления и платные продления сверх лимита 40–75 тыс., продление платных 25–40 тыс., промо с продлением и платная активация 5–10 тыс., переход частников на тариф «Актив» 3–8 тыс. Строка «Публикации» (249 тыс.) вырастет на 40–80%. Кешбэк 50% за первое продление выдаётся бонусами: когда их потратят, они попадут в выручку, но живых денег не принесут.
Пополнения растут быстрее выручки: не каждый платёж становится пополнением (в сентябре пополняли баланс 69% плативших за публикацию и 44% покупавших Auto up), а новые пополняющие кладут на баланс больше, чем тратят — у покупателей Auto up среднее пополнение 726 сом при покупке за 120.
Раскладка прироста пополняющих: новые (первое пополнение за всю историю) +100–200, удержанные с прошлого месяца +20–80, вернувшиеся после перерыва +80–120.
Оговорка по конверсии: она вырастет не потому, что лучше конвертируются новички — большинство новых пополняющих это давние пользователи, которые впервые заплатят за Auto up или второе объявление.
Платящие дилеры: выгода перехода на тариф начинается с продавцов запчастей — 334 человека держат 1 572 объявления сверх лимита, в среднем по 5 на человека, каждое после перехода будет стоить 20 сом за продление. Для легковых выгода начинается с 7–8 объявлений, таких частников мало.
Новые объявления: чтобы в показатель не попали дубли, повторная публикация истёкшего объявления должна приходить как republish, а не как новое объявление.
Допущения: проценты продления и покупки Auto up — оценка автора, данных нет; доля платежей, которые становятся пополнениями, взята по сентябрю; цена «Актив» — средний чек месячной подписки с 01.08, 531 сом; база — неполный месяц, для полного объёмы примерно ×1,11, проценты те 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Источники: https://jira.mashina.kg/browse/MASHINA-307 и https://jira.mashina.kg/browse/MASHINA-334. Сверка 30.09.2026. Эпик MASHINA-307: Бэклог дизайна, план релиза 21.10.2026, исполнитель Исиченко Олег. Подзадача дизайна MASHINA-334: Бэклог дизайна, исполнитель Борис. Задач разработки в эпике нет.</a:t>
            </a:r>
          </a:p>
          <a:p>
            <a:r>
              <a:rPr lang="en-US" dirty="0"/>
              <a:t>PRD: https://confluence.mdigital.kg/pages/viewpage.action?pageId=86869294, актуальная редакция 22.09.2026, прочитана 30.09.2026. QA анализ пройден: комментарий Артёма Вачинича от 22.09.2026. 891621 бонусов из1299163 не потрачено на16.09: историческая база, не факт на30.09.</a:t>
            </a:r>
          </a:p>
          <a:p>
            <a:r>
              <a:rPr lang="en-US" dirty="0"/>
              <a:t>Лимит по умолчанию50%, управляется глобально и по услуге в админке. Лимит от суммы принимающих бонусы позиций заказа, максимум=min(баланс,floor(bonus_eligible_amount*bonus_max_share/100)). Расширенный рекламный охват Instagram бонусы не принимает. Кэшбек только с части, оплаченной сомами. Начисления сгорают через6 календарных месяцев в23:59:59 по Бишкеку, остатки на день релиза получают срок дата релиза+6 месяцев. Уведомления за календарный месяц и за3 дня. Оплата одной транзакцией с полным откатом при сбое. SMS,email,вывод,перевод бонусов и изменение ставок кэшбека вне скоупа.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SQL через Redash по таблицам leads и banks; «Лизинг: факты и гипотезы» от 28.09.2026
Заявки партнёрам за 1–27.09 по статусам. MK Leasing — 163 заявки: rejected 102, processing 40, error 20, cancelled 1, approved 0. Экспресс Лизинг — 60 заявок: processing 51, cancelled 9, решений нет ни по одной. Итого 223 заявки, одобрено 0, в обработке 91.
За всё время: MK Leasing 588 заявок (rejected 364, processing 117, error 96, cancelled 7, approved 4), Экспресс Лизинг 63 (processing 54, cancelled 9).
Выручка лизинга за месяц — 13 330 сом: 31 лид credit_reject Экспресс Лизинга × 430 сом. Одобренных заявок нет, поэтому 1% от сделки не сработал ни у одного партнёра. План месяца 481 698 сом.
Ставки партнёров: Экспресс Лизинг — 430 сом за заявку отказника независимо от выдачи, бюджет на лиды 100 тыс. сом (около 232 заявок), плюс 1% от сделки; MK Leasing — 1% от сделки. Средняя сумма финансирования 1–1,3 млн сом, 1% от 1,2 млн = 12 000 сом = 28 заявок по 430 сом: если из 28 отказников выдаётся меньше одной сделки, оплата за лид выгоднее процента.
Про таксистов: по словам финтех-продакта, таксисты — основная аудитория физлиц в лизинге; таксопарки при этом покупают машины в банковский кредит, а водителю сдают в аренду с последующим переоформлением. Лизинг не дешевле кредита (ставка 33–35% против 17–20%), но доступнее: паспорт и права, супруг не нужен, к кредитной истории мягче.
Фокус — легковые. Сельхозтехника закрыта государственно-субсидированным лизингом под 4–8%, мото в лизинг не берут, строительная и коммерческая техника — позже.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92.204.189.31:8082/queries/348?p_category_group=car&amp;p_date_from=2026-09-01&amp;p_date_to=2026-09-27&amp;p_granularity=day#779" TargetMode="External"/><Relationship Id="rId5" Type="http://schemas.openxmlformats.org/officeDocument/2006/relationships/chart" Target="../charts/chart2.xml"/><Relationship Id="rId4" Type="http://schemas.openxmlformats.org/officeDocument/2006/relationships/slide" Target="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slide" Target="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hyperlink" Target="http://92.204.189.31:8082/queries/536?p_from_date=2026-09-01&amp;p_to_date=2026-09-27#1188" TargetMode="External"/><Relationship Id="rId7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92.204.189.31:8082/queries/364?p_date_from=2026-09-01&amp;p_date_to=2026-09-27#804" TargetMode="External"/><Relationship Id="rId5" Type="http://schemas.openxmlformats.org/officeDocument/2006/relationships/hyperlink" Target="http://92.204.189.31:8082/queries/348?p_category_group=car&amp;p_date_from=2026-09-01&amp;p_date_to=2026-09-27&amp;p_granularity=day#779" TargetMode="External"/><Relationship Id="rId4" Type="http://schemas.openxmlformats.org/officeDocument/2006/relationships/hyperlink" Target="http://92.204.189.31:8082/queries/430?p_from_date=2026-09-01&amp;p_to_date=2026-09-27#947" TargetMode="External"/><Relationship Id="rId9" Type="http://schemas.openxmlformats.org/officeDocument/2006/relationships/chart" Target="../charts/char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3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9D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Еженедельный отчёт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Mashina.kg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Сентябрь 2026 · факт </a:t>
            </a:r>
            <a:r>
              <a:rPr lang="en-US" sz="22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</a:t>
            </a: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1–2</a:t>
            </a:r>
            <a:r>
              <a:rPr lang="ru-RU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сентября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4069080"/>
            <a:ext cx="2567864" cy="1508760"/>
          </a:xfrm>
          <a:prstGeom prst="roundRect">
            <a:avLst>
              <a:gd name="adj" fmla="val 4848"/>
            </a:avLst>
          </a:prstGeom>
          <a:solidFill>
            <a:srgbClr val="33445F"/>
          </a:solidFill>
          <a:ln w="12700">
            <a:solidFill>
              <a:srgbClr val="3344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 txBox="1"/>
          <p:nvPr/>
        </p:nvSpPr>
        <p:spPr>
          <a:xfrm>
            <a:off x="777240" y="4206240"/>
            <a:ext cx="2110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9D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 и план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90824" y="4069080"/>
            <a:ext cx="2567864" cy="1508760"/>
          </a:xfrm>
          <a:prstGeom prst="roundRect">
            <a:avLst>
              <a:gd name="adj" fmla="val 4848"/>
            </a:avLst>
          </a:prstGeom>
          <a:solidFill>
            <a:srgbClr val="33445F"/>
          </a:solidFill>
          <a:ln w="12700">
            <a:solidFill>
              <a:srgbClr val="3344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 txBox="1"/>
          <p:nvPr/>
        </p:nvSpPr>
        <p:spPr>
          <a:xfrm>
            <a:off x="3619424" y="4206240"/>
            <a:ext cx="2110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9D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Спринты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33008" y="4069080"/>
            <a:ext cx="2567864" cy="1508760"/>
          </a:xfrm>
          <a:prstGeom prst="roundRect">
            <a:avLst>
              <a:gd name="adj" fmla="val 4848"/>
            </a:avLst>
          </a:prstGeom>
          <a:solidFill>
            <a:srgbClr val="33445F"/>
          </a:solidFill>
          <a:ln w="12700">
            <a:solidFill>
              <a:srgbClr val="3344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 txBox="1"/>
          <p:nvPr/>
        </p:nvSpPr>
        <p:spPr>
          <a:xfrm>
            <a:off x="6461608" y="4206240"/>
            <a:ext cx="2110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9D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фичи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75191" y="4069080"/>
            <a:ext cx="2567864" cy="1508760"/>
          </a:xfrm>
          <a:prstGeom prst="roundRect">
            <a:avLst>
              <a:gd name="adj" fmla="val 4848"/>
            </a:avLst>
          </a:prstGeom>
          <a:solidFill>
            <a:srgbClr val="33445F"/>
          </a:solidFill>
          <a:ln w="12700">
            <a:solidFill>
              <a:srgbClr val="3344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 txBox="1"/>
          <p:nvPr/>
        </p:nvSpPr>
        <p:spPr>
          <a:xfrm>
            <a:off x="9303791" y="4206240"/>
            <a:ext cx="2110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9DB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Лизинг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73936" cy="29260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Факт и план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 и новые объявления: план и факт по месяцам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554480"/>
          <a:ext cx="11094415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3">
            <a:hlinkClick r:id="rId4" action="ppaction://hlinksldjump" tooltip="Отчёт о прибылях и убытках, строка Mashina (Classified)&#10;Расчёт: январь–август — факт, сентябрь — факт 8 677 521 на 28.09 при плане месяца 8 828 336"/>
          </p:cNvPr>
          <p:cNvSpPr/>
          <p:nvPr/>
        </p:nvSpPr>
        <p:spPr>
          <a:xfrm>
            <a:off x="548640" y="1554480"/>
            <a:ext cx="11094415" cy="21945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graphicFrame>
        <p:nvGraphicFramePr>
          <p:cNvPr id="8" name="Chart 1"/>
          <p:cNvGraphicFramePr/>
          <p:nvPr/>
        </p:nvGraphicFramePr>
        <p:xfrm>
          <a:off x="548640" y="4023360"/>
          <a:ext cx="11094415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Shape 4">
            <a:hlinkClick r:id="rId6" tooltip="Дашборд: Mashina - Supply&#10;Блок: New Listings&#10;Отчёт: Total by seller type · mashina new listings seller type dwh summary&#10;Расчёт: сентябрь: 21 783 за 1–28.09 при плане месяца 26 402"/>
          </p:cNvPr>
          <p:cNvSpPr/>
          <p:nvPr/>
        </p:nvSpPr>
        <p:spPr>
          <a:xfrm>
            <a:off x="548640" y="4023360"/>
            <a:ext cx="11094415" cy="21945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73936" cy="29260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Факт и план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MPAU и средний депозит: план и факт по месяцам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554480"/>
          <a:ext cx="11094415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3">
            <a:hlinkClick r:id="rId4" action="ppaction://hlinksldjump" tooltip="Отчёта на дашбордах Redash нет — SQL через Redash по таблице transactions&#10;Расчёт: сентябрь: 6 796 за 1–28.09 при плане месяца 5 942"/>
          </p:cNvPr>
          <p:cNvSpPr/>
          <p:nvPr/>
        </p:nvSpPr>
        <p:spPr>
          <a:xfrm>
            <a:off x="548640" y="1554480"/>
            <a:ext cx="11094415" cy="21945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graphicFrame>
        <p:nvGraphicFramePr>
          <p:cNvPr id="8" name="Chart 1"/>
          <p:cNvGraphicFramePr/>
          <p:nvPr/>
        </p:nvGraphicFramePr>
        <p:xfrm>
          <a:off x="548640" y="4023360"/>
          <a:ext cx="11094415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Shape 4">
            <a:hlinkClick r:id="rId4" action="ppaction://hlinksldjump" tooltip="Отчёта на дашбордах Redash нет — SQL через Redash по таблице transactions&#10;Расчёт: сентябрь: 5 019 126 / 4 188 = 1 199 сом при плане 1 261"/>
          </p:cNvPr>
          <p:cNvSpPr/>
          <p:nvPr/>
        </p:nvSpPr>
        <p:spPr>
          <a:xfrm>
            <a:off x="548640" y="4023360"/>
            <a:ext cx="11094415" cy="21945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73936" cy="29260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Факт и план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хотели бы смотреть, но пока не можем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464912" cy="566928"/>
          </a:xfrm>
          <a:prstGeom prst="roundRect">
            <a:avLst>
              <a:gd name="adj" fmla="val 12903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519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F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будет на этой неделе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78144" y="1783080"/>
            <a:ext cx="5464912" cy="566928"/>
          </a:xfrm>
          <a:prstGeom prst="roundRect">
            <a:avLst>
              <a:gd name="adj" fmla="val 12903"/>
            </a:avLst>
          </a:prstGeom>
          <a:solidFill>
            <a:srgbClr val="FFF2E6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 txBox="1"/>
          <p:nvPr/>
        </p:nvSpPr>
        <p:spPr>
          <a:xfrm>
            <a:off x="6315304" y="1783080"/>
            <a:ext cx="519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B86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пока не запланировали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542032"/>
            <a:ext cx="5432908" cy="365760"/>
          </a:xfrm>
          <a:prstGeom prst="roundRect">
            <a:avLst>
              <a:gd name="adj" fmla="val 20000"/>
            </a:avLst>
          </a:prstGeom>
          <a:solidFill>
            <a:srgbClr val="2F8A62"/>
          </a:solidFill>
          <a:ln w="12700">
            <a:solidFill>
              <a:srgbClr val="2F8A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 txBox="1"/>
          <p:nvPr/>
        </p:nvSpPr>
        <p:spPr>
          <a:xfrm>
            <a:off x="685800" y="2542032"/>
            <a:ext cx="5158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Будет на этой неделе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2980944"/>
            <a:ext cx="5432908" cy="914400"/>
          </a:xfrm>
          <a:prstGeom prst="roundRect">
            <a:avLst>
              <a:gd name="adj" fmla="val 8000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 txBox="1"/>
          <p:nvPr/>
        </p:nvSpPr>
        <p:spPr>
          <a:xfrm>
            <a:off x="676656" y="3035808"/>
            <a:ext cx="51768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Активные объявления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объявлений реально висит в выдаче на конец дня. Счётчик на главной и старые снимки неактуальны, нужен дашборд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10148" y="2542032"/>
            <a:ext cx="5432908" cy="365760"/>
          </a:xfrm>
          <a:prstGeom prst="roundRect">
            <a:avLst>
              <a:gd name="adj" fmla="val 20000"/>
            </a:avLst>
          </a:prstGeom>
          <a:solidFill>
            <a:srgbClr val="B8661A"/>
          </a:solidFill>
          <a:ln w="12700">
            <a:solidFill>
              <a:srgbClr val="B8661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 txBox="1"/>
          <p:nvPr/>
        </p:nvSpPr>
        <p:spPr>
          <a:xfrm>
            <a:off x="6347308" y="2542032"/>
            <a:ext cx="5158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 не запланировали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10148" y="2980944"/>
            <a:ext cx="5432908" cy="914400"/>
          </a:xfrm>
          <a:prstGeom prst="roundRect">
            <a:avLst>
              <a:gd name="adj" fmla="val 8000"/>
            </a:avLst>
          </a:prstGeom>
          <a:solidFill>
            <a:srgbClr val="FFF2E6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 txBox="1"/>
          <p:nvPr/>
        </p:nvSpPr>
        <p:spPr>
          <a:xfrm>
            <a:off x="6338164" y="3035808"/>
            <a:ext cx="51768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MAU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Уникальные пользователи за месяц по всем платформам. Сейчас есть только DAU приложений, сайта в нём нет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210148" y="3968496"/>
            <a:ext cx="5432908" cy="914400"/>
          </a:xfrm>
          <a:prstGeom prst="roundRect">
            <a:avLst>
              <a:gd name="adj" fmla="val 8000"/>
            </a:avLst>
          </a:prstGeom>
          <a:solidFill>
            <a:srgbClr val="FFF2E6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 txBox="1"/>
          <p:nvPr/>
        </p:nvSpPr>
        <p:spPr>
          <a:xfrm>
            <a:off x="6338164" y="4023360"/>
            <a:ext cx="51768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ARPPU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 на платящего. Считается только руками, как и MPAU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210148" y="4956048"/>
            <a:ext cx="5432908" cy="914400"/>
          </a:xfrm>
          <a:prstGeom prst="roundRect">
            <a:avLst>
              <a:gd name="adj" fmla="val 8000"/>
            </a:avLst>
          </a:prstGeom>
          <a:solidFill>
            <a:srgbClr val="FFF2E6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8"/>
          <p:cNvSpPr txBox="1"/>
          <p:nvPr/>
        </p:nvSpPr>
        <p:spPr>
          <a:xfrm>
            <a:off x="6338164" y="5010912"/>
            <a:ext cx="51768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Покупки и средний чек по каждой категории выручки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Промо, бизнес-тарифы, публикации, отчёты: сейчас видим только суммы, без числа покупок и чека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73936" cy="29260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Факт и план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выручки: 1–28 сентября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992953"/>
              </p:ext>
            </p:extLst>
          </p:nvPr>
        </p:nvGraphicFramePr>
        <p:xfrm>
          <a:off x="548640" y="1600200"/>
          <a:ext cx="6217920" cy="3291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Показатель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Факт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План</a:t>
                      </a:r>
                      <a:r>
                        <a:rPr lang="ru-RU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к 28.09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Выполнение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Выручка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8 677 521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8 239 780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Промо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4 975 219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4 373 470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Бизнес аккаунты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654 554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575 386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Публикации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259 140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227 797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Отчёты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263 772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427 897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C8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Кредиты MBANK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3 667 913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2 158 324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Лизинг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449 585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B86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Страхование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3 164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27 321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C8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4">
            <a:hlinkClick r:id="rId3" action="ppaction://hlinksldjump" tooltip="Отчёт по выручке «Сравнение с планом/прогнозом» на 28.09, блок Mashina.kg&#10;Расчёт: +1 056 979 (+25%) к прошлому месяцу"/>
          </p:cNvPr>
          <p:cNvSpPr/>
          <p:nvPr/>
        </p:nvSpPr>
        <p:spPr>
          <a:xfrm>
            <a:off x="548640" y="2331720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5">
            <a:hlinkClick r:id="rId3" action="ppaction://hlinksldjump" tooltip="Отчёт по выручке «Сравнение с планом/прогнозом» на 28.09, блок Mashina.kg&#10;Расчёт: −98 519 (−12%) к прошлому месяцу"/>
          </p:cNvPr>
          <p:cNvSpPr/>
          <p:nvPr/>
        </p:nvSpPr>
        <p:spPr>
          <a:xfrm>
            <a:off x="548640" y="2697480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6">
            <a:hlinkClick r:id="rId3" action="ppaction://hlinksldjump" tooltip="Отчёт по выручке «Сравнение с планом/прогнозом» на 28.09, блок Mashina.kg&#10;Расчёт: +32 590 (+13%) к прошлому месяцу"/>
          </p:cNvPr>
          <p:cNvSpPr/>
          <p:nvPr/>
        </p:nvSpPr>
        <p:spPr>
          <a:xfrm>
            <a:off x="548640" y="3063240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7">
            <a:hlinkClick r:id="rId3" action="ppaction://hlinksldjump" tooltip="Отчёт по выручке «Сравнение с планом/прогнозом» на 28.09, блок Mashina.kg&#10;Расчёт: +32 589 (+13%) к прошлому месяцу, но −38% к плану"/>
          </p:cNvPr>
          <p:cNvSpPr/>
          <p:nvPr/>
        </p:nvSpPr>
        <p:spPr>
          <a:xfrm>
            <a:off x="548640" y="3429000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8">
            <a:hlinkClick r:id="rId3" action="ppaction://hlinksldjump" tooltip="Отчёт по выручке «Сравнение с планом/прогнозом» на 28.09, блок Mashina.kg&#10;Расчёт: +1 145 161 (+40%) к прошлому месяцу"/>
          </p:cNvPr>
          <p:cNvSpPr/>
          <p:nvPr/>
        </p:nvSpPr>
        <p:spPr>
          <a:xfrm>
            <a:off x="548640" y="3794760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9">
            <a:hlinkClick r:id="rId3" action="ppaction://hlinksldjump" tooltip="Отчёт по выручке «Сравнение с планом/прогнозом» на 28.09, блок Mashina.kg&#10;Расчёт: факта нет, прогноз тоже пустой; в прошлом месяце 11 600 сом"/>
          </p:cNvPr>
          <p:cNvSpPr/>
          <p:nvPr/>
        </p:nvSpPr>
        <p:spPr>
          <a:xfrm>
            <a:off x="548640" y="4160520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0">
            <a:hlinkClick r:id="rId3" action="ppaction://hlinksldjump" tooltip="Отчёт по выручке «Сравнение с планом/прогнозом» на 28.09, блок Mashina.kg&#10;Расчёт: −3 773 (−54%) к прошлому месяцу"/>
          </p:cNvPr>
          <p:cNvSpPr/>
          <p:nvPr/>
        </p:nvSpPr>
        <p:spPr>
          <a:xfrm>
            <a:off x="548640" y="4526280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1"/>
          <p:cNvSpPr txBox="1"/>
          <p:nvPr/>
        </p:nvSpPr>
        <p:spPr>
          <a:xfrm>
            <a:off x="7040880" y="1600200"/>
            <a:ext cx="4602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плана, %</a:t>
            </a:r>
            <a:endParaRPr lang="en-US" sz="1100" dirty="0"/>
          </a:p>
        </p:txBody>
      </p:sp>
      <p:graphicFrame>
        <p:nvGraphicFramePr>
          <p:cNvPr id="16" name="Chart 0"/>
          <p:cNvGraphicFramePr/>
          <p:nvPr>
            <p:extLst>
              <p:ext uri="{D42A27DB-BD31-4B8C-83A1-F6EECF244321}">
                <p14:modId xmlns:p14="http://schemas.microsoft.com/office/powerpoint/2010/main" val="3075643556"/>
              </p:ext>
            </p:extLst>
          </p:nvPr>
        </p:nvGraphicFramePr>
        <p:xfrm>
          <a:off x="7040880" y="1791478"/>
          <a:ext cx="4602175" cy="34114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773936" cy="29260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Факт и план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 и план: показатели из Redash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965931"/>
              </p:ext>
            </p:extLst>
          </p:nvPr>
        </p:nvGraphicFramePr>
        <p:xfrm>
          <a:off x="548640" y="1600200"/>
          <a:ext cx="6217920" cy="21945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Показатель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Факт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План</a:t>
                      </a:r>
                      <a:r>
                        <a:rPr lang="ru-RU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к 28.09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Выполнение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Пополнения, сом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5 019 126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5 631 872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>
                          <a:solidFill>
                            <a:srgbClr val="C8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Регистраций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15 708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14 782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Новых объявлений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21 783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24 642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>
                          <a:solidFill>
                            <a:srgbClr val="C8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Платящие дилеры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>
                          <a:solidFill>
                            <a:srgbClr val="B86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Выручка на дилера, сом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5 279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4 394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>
            <a:hlinkClick r:id="rId3" tooltip="Дашборд: Mashina - Deposits Revenue&#10;Блок: Deposits Daily&#10;Отчёт: Deposits Sum Revenue + MA(30d) · mashina cashin transactions ma30d daily&#10;Расчёт: 1–28.09; план месяца 6 034 148 × 28/30"/>
          </p:cNvPr>
          <p:cNvSpPr/>
          <p:nvPr/>
        </p:nvSpPr>
        <p:spPr>
          <a:xfrm>
            <a:off x="548640" y="1965960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Shape 4">
            <a:hlinkClick r:id="rId4" tooltip="Дашборд: Mashina - Supply&#10;Блок: New Listings&#10;Отчёт: New Users Daily · mashina new users by period daily&#10;Расчёт: new_users за 1–28.09; план 15 837 × 28/30"/>
          </p:cNvPr>
          <p:cNvSpPr/>
          <p:nvPr/>
        </p:nvSpPr>
        <p:spPr>
          <a:xfrm>
            <a:off x="548640" y="2331720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5">
            <a:hlinkClick r:id="rId5" tooltip="Дашборд: Mashina - Supply&#10;Блок: New Listings&#10;Отчёт: Total by seller type · mashina new listings seller type dwh summary&#10;Расчёт: частные 18 355, дилеры 3 428; план 26 402 × 28/30"/>
          </p:cNvPr>
          <p:cNvSpPr/>
          <p:nvPr/>
        </p:nvSpPr>
        <p:spPr>
          <a:xfrm>
            <a:off x="548640" y="2697480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6">
            <a:hlinkClick r:id="rId6" tooltip="Дашборд: Mashina - MRR (Monthly Recurring Revenue)&#10;Блок: По дням и по часам&#10;Отчёт: Выручка по группам трат · mashina spent transactions revenue structure daily&#10;Расчёт: уникальные с оплатой бизнес-тарифа; план 147 × 28/30"/>
          </p:cNvPr>
          <p:cNvSpPr/>
          <p:nvPr/>
        </p:nvSpPr>
        <p:spPr>
          <a:xfrm>
            <a:off x="548640" y="3063240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7">
            <a:hlinkClick r:id="rId6" tooltip="Дашборд: Mashina - MRR (Monthly Recurring Revenue)&#10;Блок: По дням и по часам&#10;Отчёт: Выручка по группам трат · mashina spent transactions revenue structure daily&#10;Расчёт: 654 554 / 124 = 5 279 сом; план — уровень"/>
          </p:cNvPr>
          <p:cNvSpPr/>
          <p:nvPr/>
        </p:nvSpPr>
        <p:spPr>
          <a:xfrm>
            <a:off x="548640" y="3429000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8"/>
          <p:cNvSpPr txBox="1"/>
          <p:nvPr/>
        </p:nvSpPr>
        <p:spPr>
          <a:xfrm>
            <a:off x="7040880" y="1572207"/>
            <a:ext cx="4602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плана, %</a:t>
            </a:r>
            <a:endParaRPr lang="en-US" sz="1100" dirty="0"/>
          </a:p>
        </p:txBody>
      </p:sp>
      <p:graphicFrame>
        <p:nvGraphicFramePr>
          <p:cNvPr id="13" name="Chart 0"/>
          <p:cNvGraphicFramePr/>
          <p:nvPr>
            <p:extLst>
              <p:ext uri="{D42A27DB-BD31-4B8C-83A1-F6EECF244321}">
                <p14:modId xmlns:p14="http://schemas.microsoft.com/office/powerpoint/2010/main" val="97956298"/>
              </p:ext>
            </p:extLst>
          </p:nvPr>
        </p:nvGraphicFramePr>
        <p:xfrm>
          <a:off x="7040880" y="1864441"/>
          <a:ext cx="4602175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3AFF16E5-CF44-E441-650E-982F0B7804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418863"/>
              </p:ext>
            </p:extLst>
          </p:nvPr>
        </p:nvGraphicFramePr>
        <p:xfrm>
          <a:off x="548640" y="3950208"/>
          <a:ext cx="6217920" cy="25603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Показатель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Факт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План</a:t>
                      </a:r>
                      <a:r>
                        <a:rPr lang="ru-RU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к 28.09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Выполнение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Средний депозит, сом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1 199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1 261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B86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Пополняющие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4 188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4 468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B86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Регистрация → пополнение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C84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MPAU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6 796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5 546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Удержание пополняющих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Вернувшиеся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1 622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1 771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B86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Shape 3">
            <a:hlinkClick r:id="rId8" action="ppaction://hlinksldjump" tooltip="Отчёта на дашбордах Redash нет — SQL через Redash по таблице transactions&#10;Расчёт: 5 019 126 / 4 188; план — уровень"/>
            <a:extLst>
              <a:ext uri="{FF2B5EF4-FFF2-40B4-BE49-F238E27FC236}">
                <a16:creationId xmlns:a16="http://schemas.microsoft.com/office/drawing/2014/main" id="{2E55A907-9709-D7BD-AB40-657D98B8F3F3}"/>
              </a:ext>
            </a:extLst>
          </p:cNvPr>
          <p:cNvSpPr/>
          <p:nvPr/>
        </p:nvSpPr>
        <p:spPr>
          <a:xfrm>
            <a:off x="548640" y="4315968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Shape 4">
            <a:hlinkClick r:id="rId8" action="ppaction://hlinksldjump" tooltip="Отчёта на дашбордах Redash нет — SQL через Redash по таблице transactions&#10;Расчёт: уникальные за 1–28.09; план 4 787 × 28/30"/>
            <a:extLst>
              <a:ext uri="{FF2B5EF4-FFF2-40B4-BE49-F238E27FC236}">
                <a16:creationId xmlns:a16="http://schemas.microsoft.com/office/drawing/2014/main" id="{178663BF-91C8-7AA9-4CB3-954167885AED}"/>
              </a:ext>
            </a:extLst>
          </p:cNvPr>
          <p:cNvSpPr/>
          <p:nvPr/>
        </p:nvSpPr>
        <p:spPr>
          <a:xfrm>
            <a:off x="548640" y="4681728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Shape 5">
            <a:hlinkClick r:id="rId8" action="ppaction://hlinksldjump" tooltip="Отчёта на дашбордах Redash нет — SQL через Redash по таблице transactions&#10;Расчёт: 1 584 новых пополняющих / 15 708 регистраций"/>
            <a:extLst>
              <a:ext uri="{FF2B5EF4-FFF2-40B4-BE49-F238E27FC236}">
                <a16:creationId xmlns:a16="http://schemas.microsoft.com/office/drawing/2014/main" id="{ECC403DD-E7A9-DB50-C230-CD7736F1312D}"/>
              </a:ext>
            </a:extLst>
          </p:cNvPr>
          <p:cNvSpPr/>
          <p:nvPr/>
        </p:nvSpPr>
        <p:spPr>
          <a:xfrm>
            <a:off x="548640" y="5047488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Shape 6">
            <a:hlinkClick r:id="rId8" action="ppaction://hlinksldjump" tooltip="Отчёта на дашбордах Redash нет — SQL через Redash по таблице transactions&#10;Расчёт: промо, бизнес-тарифы, публикации, отчёты; план 5 942 × 28/30"/>
            <a:extLst>
              <a:ext uri="{FF2B5EF4-FFF2-40B4-BE49-F238E27FC236}">
                <a16:creationId xmlns:a16="http://schemas.microsoft.com/office/drawing/2014/main" id="{62EE8390-5111-5037-0505-B4853538EF83}"/>
              </a:ext>
            </a:extLst>
          </p:cNvPr>
          <p:cNvSpPr/>
          <p:nvPr/>
        </p:nvSpPr>
        <p:spPr>
          <a:xfrm>
            <a:off x="548640" y="5413248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Shape 7">
            <a:hlinkClick r:id="rId8" action="ppaction://hlinksldjump" tooltip="Отчёта на дашбордах Redash нет — SQL через Redash по таблице transactions&#10;Расчёт: 982 из 4 657 пополнявших в августе"/>
            <a:extLst>
              <a:ext uri="{FF2B5EF4-FFF2-40B4-BE49-F238E27FC236}">
                <a16:creationId xmlns:a16="http://schemas.microsoft.com/office/drawing/2014/main" id="{2DDA890E-8A46-AC98-7566-A8025162D7BE}"/>
              </a:ext>
            </a:extLst>
          </p:cNvPr>
          <p:cNvSpPr/>
          <p:nvPr/>
        </p:nvSpPr>
        <p:spPr>
          <a:xfrm>
            <a:off x="548640" y="5779008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Shape 8">
            <a:hlinkClick r:id="rId8" action="ppaction://hlinksldjump" tooltip="Отчёта на дашбордах Redash нет — SQL через Redash по таблице transactions&#10;Расчёт: 4 188 − 982 удержанных − 1 584 новых; план 1 898 × 28/30"/>
            <a:extLst>
              <a:ext uri="{FF2B5EF4-FFF2-40B4-BE49-F238E27FC236}">
                <a16:creationId xmlns:a16="http://schemas.microsoft.com/office/drawing/2014/main" id="{7EE98AFE-48EB-D622-BFCB-013859388F04}"/>
              </a:ext>
            </a:extLst>
          </p:cNvPr>
          <p:cNvSpPr/>
          <p:nvPr/>
        </p:nvSpPr>
        <p:spPr>
          <a:xfrm>
            <a:off x="548640" y="6144768"/>
            <a:ext cx="6217920" cy="3657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A268FC0E-1BF4-9D36-33CF-D22B568D8AB5}"/>
              </a:ext>
            </a:extLst>
          </p:cNvPr>
          <p:cNvSpPr txBox="1"/>
          <p:nvPr/>
        </p:nvSpPr>
        <p:spPr>
          <a:xfrm>
            <a:off x="7040880" y="3950208"/>
            <a:ext cx="4602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graphicFrame>
        <p:nvGraphicFramePr>
          <p:cNvPr id="30" name="Chart 0">
            <a:extLst>
              <a:ext uri="{FF2B5EF4-FFF2-40B4-BE49-F238E27FC236}">
                <a16:creationId xmlns:a16="http://schemas.microsoft.com/office/drawing/2014/main" id="{D92787B1-29CC-A7EE-CD29-B8ADD72078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7466609"/>
              </p:ext>
            </p:extLst>
          </p:nvPr>
        </p:nvGraphicFramePr>
        <p:xfrm>
          <a:off x="7040880" y="4142792"/>
          <a:ext cx="4602175" cy="26599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44752" cy="29260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Спринты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Релиз 30 сентября: что успели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588410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33140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10.09–30.09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спринт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01642" y="1783080"/>
            <a:ext cx="3588410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 txBox="1"/>
          <p:nvPr/>
        </p:nvSpPr>
        <p:spPr>
          <a:xfrm>
            <a:off x="4438802" y="1783080"/>
            <a:ext cx="33140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задач в спринте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054645" y="1783080"/>
            <a:ext cx="3588410" cy="566928"/>
          </a:xfrm>
          <a:prstGeom prst="roundRect">
            <a:avLst>
              <a:gd name="adj" fmla="val 12903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 txBox="1"/>
          <p:nvPr/>
        </p:nvSpPr>
        <p:spPr>
          <a:xfrm>
            <a:off x="8191805" y="1783080"/>
            <a:ext cx="33140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F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все в разработке и успеваем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2542032"/>
            <a:ext cx="5432908" cy="365760"/>
          </a:xfrm>
          <a:prstGeom prst="roundRect">
            <a:avLst>
              <a:gd name="adj" fmla="val 20000"/>
            </a:avLst>
          </a:prstGeom>
          <a:solidFill>
            <a:srgbClr val="24324A"/>
          </a:solidFill>
          <a:ln w="12700">
            <a:solidFill>
              <a:srgbClr val="243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 txBox="1"/>
          <p:nvPr/>
        </p:nvSpPr>
        <p:spPr>
          <a:xfrm>
            <a:off x="685800" y="2542032"/>
            <a:ext cx="5158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разработке  9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58368" y="2993262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 txBox="1"/>
          <p:nvPr/>
        </p:nvSpPr>
        <p:spPr>
          <a:xfrm>
            <a:off x="658368" y="2993262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Страхование: Алма и НСК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58368" y="3304158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 txBox="1"/>
          <p:nvPr/>
        </p:nvSpPr>
        <p:spPr>
          <a:xfrm>
            <a:off x="658368" y="3304158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Кэшбек 22% за полис ОСАГО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58368" y="3615054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7"/>
          <p:cNvSpPr txBox="1"/>
          <p:nvPr/>
        </p:nvSpPr>
        <p:spPr>
          <a:xfrm>
            <a:off x="658368" y="3615054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Ивенты для пушей и отчётов VIN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58368" y="3925950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19"/>
          <p:cNvSpPr txBox="1"/>
          <p:nvPr/>
        </p:nvSpPr>
        <p:spPr>
          <a:xfrm>
            <a:off x="658368" y="3925950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Разметка мобилки и подключение Adjust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58368" y="4236846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1"/>
          <p:cNvSpPr txBox="1"/>
          <p:nvPr/>
        </p:nvSpPr>
        <p:spPr>
          <a:xfrm>
            <a:off x="658368" y="4236846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Разметка веба для маркетинга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58368" y="4547742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3"/>
          <p:cNvSpPr txBox="1"/>
          <p:nvPr/>
        </p:nvSpPr>
        <p:spPr>
          <a:xfrm>
            <a:off x="658368" y="4547742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 показа по тарифам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658368" y="4858638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5"/>
          <p:cNvSpPr txBox="1"/>
          <p:nvPr/>
        </p:nvSpPr>
        <p:spPr>
          <a:xfrm>
            <a:off x="658368" y="4858638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аккаунты Instagram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58368" y="5169534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7"/>
          <p:cNvSpPr txBox="1"/>
          <p:nvPr/>
        </p:nvSpPr>
        <p:spPr>
          <a:xfrm>
            <a:off x="658368" y="5169534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Закрепить «Пополнить баланс»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58368" y="5480430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Shape 29"/>
          <p:cNvSpPr/>
          <p:nvPr/>
        </p:nvSpPr>
        <p:spPr>
          <a:xfrm>
            <a:off x="6210148" y="2542032"/>
            <a:ext cx="5432908" cy="365760"/>
          </a:xfrm>
          <a:prstGeom prst="roundRect">
            <a:avLst>
              <a:gd name="adj" fmla="val 20000"/>
            </a:avLst>
          </a:prstGeom>
          <a:solidFill>
            <a:srgbClr val="24324A"/>
          </a:solidFill>
          <a:ln w="12700">
            <a:solidFill>
              <a:srgbClr val="243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0"/>
          <p:cNvSpPr txBox="1"/>
          <p:nvPr/>
        </p:nvSpPr>
        <p:spPr>
          <a:xfrm>
            <a:off x="6347308" y="2542032"/>
            <a:ext cx="5158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разработке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319876" y="2980944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Скрыть «Удалить аккаунт»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319876" y="3291840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3"/>
          <p:cNvSpPr txBox="1"/>
          <p:nvPr/>
        </p:nvSpPr>
        <p:spPr>
          <a:xfrm>
            <a:off x="6319876" y="3291840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Неактивные в избранном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6319876" y="3602736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8" name="Text 35"/>
          <p:cNvSpPr txBox="1"/>
          <p:nvPr/>
        </p:nvSpPr>
        <p:spPr>
          <a:xfrm>
            <a:off x="6319876" y="3602736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Звонок без авторизации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6319876" y="3913632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Text 37"/>
          <p:cNvSpPr txBox="1"/>
          <p:nvPr/>
        </p:nvSpPr>
        <p:spPr>
          <a:xfrm>
            <a:off x="6319876" y="3913632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Ссылка на WebView РИОМ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6319876" y="4224528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2" name="Text 39"/>
          <p:cNvSpPr txBox="1"/>
          <p:nvPr/>
        </p:nvSpPr>
        <p:spPr>
          <a:xfrm>
            <a:off x="6319876" y="4224528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Популярные марки в фильтре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6319876" y="4535424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4" name="Text 41"/>
          <p:cNvSpPr txBox="1"/>
          <p:nvPr/>
        </p:nvSpPr>
        <p:spPr>
          <a:xfrm>
            <a:off x="6319876" y="4535424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главную после смены пароля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6319876" y="4846320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6" name="Text 43"/>
          <p:cNvSpPr txBox="1"/>
          <p:nvPr/>
        </p:nvSpPr>
        <p:spPr>
          <a:xfrm>
            <a:off x="6319876" y="4846320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Правки по интерфейсу, Figma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6319876" y="5157216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8" name="Text 45"/>
          <p:cNvSpPr txBox="1"/>
          <p:nvPr/>
        </p:nvSpPr>
        <p:spPr>
          <a:xfrm>
            <a:off x="6319876" y="5157216"/>
            <a:ext cx="5213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Поменять цвет текста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6319876" y="5468112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44752" cy="29260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Спринты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Релиз 7 октября: что запланировали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30.09–06.10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спринт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63392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 txBox="1"/>
          <p:nvPr/>
        </p:nvSpPr>
        <p:spPr>
          <a:xfrm>
            <a:off x="3500552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фич (эпиков)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8144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FFF2E6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 txBox="1"/>
          <p:nvPr/>
        </p:nvSpPr>
        <p:spPr>
          <a:xfrm>
            <a:off x="6315304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B86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готовы к тех оценке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992895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 txBox="1"/>
          <p:nvPr/>
        </p:nvSpPr>
        <p:spPr>
          <a:xfrm>
            <a:off x="9130055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F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в разработке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2542032"/>
            <a:ext cx="5432908" cy="365760"/>
          </a:xfrm>
          <a:prstGeom prst="roundRect">
            <a:avLst>
              <a:gd name="adj" fmla="val 20000"/>
            </a:avLst>
          </a:prstGeom>
          <a:solidFill>
            <a:srgbClr val="B8661A"/>
          </a:solidFill>
          <a:ln w="12700">
            <a:solidFill>
              <a:srgbClr val="B8661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 txBox="1"/>
          <p:nvPr/>
        </p:nvSpPr>
        <p:spPr>
          <a:xfrm>
            <a:off x="685800" y="2542032"/>
            <a:ext cx="5158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Готово к тех оценке  8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" y="2980944"/>
            <a:ext cx="52134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(MASHINA-297)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58368" y="3361944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 txBox="1"/>
          <p:nvPr/>
        </p:nvSpPr>
        <p:spPr>
          <a:xfrm>
            <a:off x="658368" y="3361944"/>
            <a:ext cx="52134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«Проверить авто» в карточке (MASHINA-298)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58368" y="3742944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7"/>
          <p:cNvSpPr txBox="1"/>
          <p:nvPr/>
        </p:nvSpPr>
        <p:spPr>
          <a:xfrm>
            <a:off x="658368" y="3742944"/>
            <a:ext cx="52134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Залоговый конвейер до заявки (MASHINA-299)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58368" y="4123944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19"/>
          <p:cNvSpPr txBox="1"/>
          <p:nvPr/>
        </p:nvSpPr>
        <p:spPr>
          <a:xfrm>
            <a:off x="658368" y="4123944"/>
            <a:ext cx="52134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Кредитный потенциал MBANK и профиль (MASHINA-300)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23" name="Shape 20"/>
          <p:cNvSpPr/>
          <p:nvPr/>
        </p:nvSpPr>
        <p:spPr>
          <a:xfrm>
            <a:off x="658368" y="4504944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1"/>
          <p:cNvSpPr txBox="1"/>
          <p:nvPr/>
        </p:nvSpPr>
        <p:spPr>
          <a:xfrm>
            <a:off x="658368" y="4504944"/>
            <a:ext cx="52134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Автофинансирование коммерческого транспорта (MASHINA-301)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25" name="Shape 22"/>
          <p:cNvSpPr/>
          <p:nvPr/>
        </p:nvSpPr>
        <p:spPr>
          <a:xfrm>
            <a:off x="658368" y="4885944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3"/>
          <p:cNvSpPr txBox="1"/>
          <p:nvPr/>
        </p:nvSpPr>
        <p:spPr>
          <a:xfrm>
            <a:off x="658368" y="4885944"/>
            <a:ext cx="52134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Статусы заявки автофинансирования (MASHINA-302)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58368" y="5266944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5"/>
          <p:cNvSpPr txBox="1"/>
          <p:nvPr/>
        </p:nvSpPr>
        <p:spPr>
          <a:xfrm>
            <a:off x="658368" y="5266944"/>
            <a:ext cx="52134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аудитории в админке пушей (MASHINA-303)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58368" y="5647944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7"/>
          <p:cNvSpPr txBox="1"/>
          <p:nvPr/>
        </p:nvSpPr>
        <p:spPr>
          <a:xfrm>
            <a:off x="658368" y="5647944"/>
            <a:ext cx="52134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Логотипы на экране проверки VIN (MASHINA-304)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58368" y="6028944"/>
            <a:ext cx="521345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4" name="Shape 41"/>
          <p:cNvSpPr/>
          <p:nvPr/>
        </p:nvSpPr>
        <p:spPr>
          <a:xfrm>
            <a:off x="6210148" y="2542032"/>
            <a:ext cx="5432908" cy="365760"/>
          </a:xfrm>
          <a:prstGeom prst="roundRect">
            <a:avLst>
              <a:gd name="adj" fmla="val 20000"/>
            </a:avLst>
          </a:prstGeom>
          <a:solidFill>
            <a:srgbClr val="24324A"/>
          </a:solidFill>
          <a:ln w="12700">
            <a:solidFill>
              <a:srgbClr val="2F8A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5" name="Text 42"/>
          <p:cNvSpPr txBox="1"/>
          <p:nvPr/>
        </p:nvSpPr>
        <p:spPr>
          <a:xfrm>
            <a:off x="6347308" y="2542032"/>
            <a:ext cx="5158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Бэклог дизайна  1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6210148" y="2980944"/>
            <a:ext cx="5432908" cy="754380"/>
          </a:xfrm>
          <a:prstGeom prst="roundRect">
            <a:avLst>
              <a:gd name="adj" fmla="val 9697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7" name="Text 44"/>
          <p:cNvSpPr txBox="1"/>
          <p:nvPr/>
        </p:nvSpPr>
        <p:spPr>
          <a:xfrm>
            <a:off x="6338164" y="3035808"/>
            <a:ext cx="51768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F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MASHINA-305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Регистрация через Telegram и WhatsApp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 MASHINA-332: бэклог дизайна</a:t>
            </a:r>
            <a:endParaRPr lang="en-US" sz="1400" dirty="0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C17DF6E8-EB17-9510-61B2-33E389FE2A83}"/>
              </a:ext>
            </a:extLst>
          </p:cNvPr>
          <p:cNvSpPr txBox="1"/>
          <p:nvPr/>
        </p:nvSpPr>
        <p:spPr>
          <a:xfrm>
            <a:off x="662940" y="6028944"/>
            <a:ext cx="52134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ru-RU" sz="1100" b="1" dirty="0">
                <a:solidFill>
                  <a:srgbClr val="00B050"/>
                </a:solidFill>
                <a:latin typeface="Arial" pitchFamily="34" charset="0"/>
                <a:cs typeface="Arial" pitchFamily="34" charset="-120"/>
              </a:rPr>
              <a:t>Часть Гаража – 1 этап (без релиза для пользователей)</a:t>
            </a:r>
            <a:endParaRPr 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444752" cy="29260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Спринты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Релизы 21 октября и 4 ноября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21.10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план релиза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63392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 txBox="1"/>
          <p:nvPr/>
        </p:nvSpPr>
        <p:spPr>
          <a:xfrm>
            <a:off x="3500552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04.11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план релиза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8144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 txBox="1"/>
          <p:nvPr/>
        </p:nvSpPr>
        <p:spPr>
          <a:xfrm>
            <a:off x="6315304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фич (эпиков)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992895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 txBox="1"/>
          <p:nvPr/>
        </p:nvSpPr>
        <p:spPr>
          <a:xfrm>
            <a:off x="9130055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подзадач дизайна и QA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2542032"/>
            <a:ext cx="3545738" cy="365760"/>
          </a:xfrm>
          <a:prstGeom prst="roundRect">
            <a:avLst>
              <a:gd name="adj" fmla="val 20000"/>
            </a:avLst>
          </a:prstGeom>
          <a:solidFill>
            <a:srgbClr val="24324A"/>
          </a:solidFill>
          <a:ln w="12700">
            <a:solidFill>
              <a:srgbClr val="243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 txBox="1"/>
          <p:nvPr/>
        </p:nvSpPr>
        <p:spPr>
          <a:xfrm>
            <a:off x="685800" y="2542032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Релиз 21 октября  7 фич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" y="2980944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Гараж: Этап 1</a:t>
            </a:r>
            <a:r>
              <a:rPr lang="en-US" sz="95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Готово к тех оценке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58368" y="3291840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 txBox="1"/>
          <p:nvPr/>
        </p:nvSpPr>
        <p:spPr>
          <a:xfrm>
            <a:off x="658368" y="3291840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 жизни объявления + 50% </a:t>
            </a:r>
            <a:r>
              <a:rPr lang="en-US" sz="1100" b="1" dirty="0" err="1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</a:t>
            </a:r>
            <a:r>
              <a:rPr lang="en-US" sz="11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dirty="0" err="1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</a:t>
            </a:r>
            <a:r>
              <a:rPr lang="ru-RU" sz="1100" b="1" dirty="0" err="1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виж</a:t>
            </a:r>
            <a:r>
              <a:rPr lang="en-US" sz="1100" b="1" dirty="0" err="1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ение</a:t>
            </a:r>
            <a:r>
              <a:rPr lang="en-US" sz="95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Бэклог дизайна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58368" y="3602736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7"/>
          <p:cNvSpPr txBox="1"/>
          <p:nvPr/>
        </p:nvSpPr>
        <p:spPr>
          <a:xfrm>
            <a:off x="658368" y="3602736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Переработка системы бонусов</a:t>
            </a:r>
            <a:r>
              <a:rPr lang="en-US" sz="95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Бэклог дизайна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58368" y="3913632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19"/>
          <p:cNvSpPr txBox="1"/>
          <p:nvPr/>
        </p:nvSpPr>
        <p:spPr>
          <a:xfrm>
            <a:off x="658368" y="3913632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Парсинг объявлений с Lalafo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Готово к тех оценке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58368" y="4224528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1"/>
          <p:cNvSpPr txBox="1"/>
          <p:nvPr/>
        </p:nvSpPr>
        <p:spPr>
          <a:xfrm>
            <a:off x="658368" y="4224528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Раздельное удаление аккаунтов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Готово к тех оценке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58368" y="4535424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3"/>
          <p:cNvSpPr txBox="1"/>
          <p:nvPr/>
        </p:nvSpPr>
        <p:spPr>
          <a:xfrm>
            <a:off x="658368" y="4535424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Иконка чата и быстрые сообщения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Бэклог QA анализа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58368" y="4846320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5"/>
          <p:cNvSpPr txBox="1"/>
          <p:nvPr/>
        </p:nvSpPr>
        <p:spPr>
          <a:xfrm>
            <a:off x="658368" y="4846320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от парсинга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Формирование требований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58368" y="5157216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Shape 27"/>
          <p:cNvSpPr/>
          <p:nvPr/>
        </p:nvSpPr>
        <p:spPr>
          <a:xfrm>
            <a:off x="4322978" y="2542032"/>
            <a:ext cx="3545738" cy="365760"/>
          </a:xfrm>
          <a:prstGeom prst="roundRect">
            <a:avLst>
              <a:gd name="adj" fmla="val 20000"/>
            </a:avLst>
          </a:prstGeom>
          <a:solidFill>
            <a:srgbClr val="24324A"/>
          </a:solidFill>
          <a:ln w="12700">
            <a:solidFill>
              <a:srgbClr val="243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8"/>
          <p:cNvSpPr txBox="1"/>
          <p:nvPr/>
        </p:nvSpPr>
        <p:spPr>
          <a:xfrm>
            <a:off x="4460138" y="2542032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ноября: техоценка и QA  10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4432706" y="2980944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Попап с оценкой</a:t>
            </a:r>
            <a:r>
              <a:rPr lang="en-US" sz="95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Техоценка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33" name="Shape 30"/>
          <p:cNvSpPr/>
          <p:nvPr/>
        </p:nvSpPr>
        <p:spPr>
          <a:xfrm>
            <a:off x="4432706" y="3291840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31"/>
          <p:cNvSpPr txBox="1"/>
          <p:nvPr/>
        </p:nvSpPr>
        <p:spPr>
          <a:xfrm>
            <a:off x="4432706" y="3291840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Админка отправки пушей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Техоценка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4432706" y="3602736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3"/>
          <p:cNvSpPr txBox="1"/>
          <p:nvPr/>
        </p:nvSpPr>
        <p:spPr>
          <a:xfrm>
            <a:off x="4432706" y="3602736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Значки продвижения в объявлении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Техоценка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4432706" y="3913632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8" name="Text 35"/>
          <p:cNvSpPr txBox="1"/>
          <p:nvPr/>
        </p:nvSpPr>
        <p:spPr>
          <a:xfrm>
            <a:off x="4432706" y="3913632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Сортировка по новизне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Техоценка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4432706" y="4224528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Text 37"/>
          <p:cNvSpPr txBox="1"/>
          <p:nvPr/>
        </p:nvSpPr>
        <p:spPr>
          <a:xfrm>
            <a:off x="4432706" y="4224528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Статистика в превью объявления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Техоценка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4432706" y="4535424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2" name="Text 39"/>
          <p:cNvSpPr txBox="1"/>
          <p:nvPr/>
        </p:nvSpPr>
        <p:spPr>
          <a:xfrm>
            <a:off x="4432706" y="4535424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Непрочитанные на иконке приложения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Техоценка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4432706" y="4846320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4" name="Text 41"/>
          <p:cNvSpPr txBox="1"/>
          <p:nvPr/>
        </p:nvSpPr>
        <p:spPr>
          <a:xfrm>
            <a:off x="4432706" y="4846320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Коммуникации по триггерам</a:t>
            </a:r>
            <a:r>
              <a:rPr lang="en-US" sz="95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Бэклог QA анализа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45" name="Shape 42"/>
          <p:cNvSpPr/>
          <p:nvPr/>
        </p:nvSpPr>
        <p:spPr>
          <a:xfrm>
            <a:off x="4432706" y="5157216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6" name="Text 43"/>
          <p:cNvSpPr txBox="1"/>
          <p:nvPr/>
        </p:nvSpPr>
        <p:spPr>
          <a:xfrm>
            <a:off x="4432706" y="5157216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Разметка поиска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Бэклог QA анализа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4432706" y="5468112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8" name="Text 45"/>
          <p:cNvSpPr txBox="1"/>
          <p:nvPr/>
        </p:nvSpPr>
        <p:spPr>
          <a:xfrm>
            <a:off x="4432706" y="5468112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Фильтры кредита и лизинга</a:t>
            </a:r>
            <a:r>
              <a:rPr lang="en-US" sz="95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Бэклог QA анализа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49" name="Shape 46"/>
          <p:cNvSpPr/>
          <p:nvPr/>
        </p:nvSpPr>
        <p:spPr>
          <a:xfrm>
            <a:off x="4432706" y="5779008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0" name="Text 47"/>
          <p:cNvSpPr txBox="1"/>
          <p:nvPr/>
        </p:nvSpPr>
        <p:spPr>
          <a:xfrm>
            <a:off x="4432706" y="5779008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Лого машины вместо номера через ИИ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Бэклог QA анализа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4432706" y="6089904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2" name="Shape 49"/>
          <p:cNvSpPr/>
          <p:nvPr/>
        </p:nvSpPr>
        <p:spPr>
          <a:xfrm>
            <a:off x="8097317" y="2542032"/>
            <a:ext cx="3545738" cy="365760"/>
          </a:xfrm>
          <a:prstGeom prst="roundRect">
            <a:avLst>
              <a:gd name="adj" fmla="val 20000"/>
            </a:avLst>
          </a:prstGeom>
          <a:solidFill>
            <a:srgbClr val="24324A"/>
          </a:solidFill>
          <a:ln w="12700">
            <a:solidFill>
              <a:srgbClr val="2432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3" name="Text 50"/>
          <p:cNvSpPr txBox="1"/>
          <p:nvPr/>
        </p:nvSpPr>
        <p:spPr>
          <a:xfrm>
            <a:off x="8234477" y="2542032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ноября: требования и дизайн  10</a:t>
            </a:r>
            <a:endParaRPr lang="en-US" sz="1400" dirty="0"/>
          </a:p>
        </p:txBody>
      </p:sp>
      <p:sp>
        <p:nvSpPr>
          <p:cNvPr id="54" name="Text 51"/>
          <p:cNvSpPr txBox="1"/>
          <p:nvPr/>
        </p:nvSpPr>
        <p:spPr>
          <a:xfrm>
            <a:off x="8207045" y="2980944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номер телефона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Требования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8207045" y="3291840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6" name="Text 53"/>
          <p:cNvSpPr txBox="1"/>
          <p:nvPr/>
        </p:nvSpPr>
        <p:spPr>
          <a:xfrm>
            <a:off x="8207045" y="3291840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Мигрированные объявления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Требования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8207045" y="3602736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8" name="Text 55"/>
          <p:cNvSpPr txBox="1"/>
          <p:nvPr/>
        </p:nvSpPr>
        <p:spPr>
          <a:xfrm>
            <a:off x="8207045" y="3602736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Фича-флаги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Требования</a:t>
            </a:r>
            <a:endParaRPr lang="en-US" sz="1400" dirty="0"/>
          </a:p>
        </p:txBody>
      </p:sp>
      <p:sp>
        <p:nvSpPr>
          <p:cNvPr id="59" name="Shape 56"/>
          <p:cNvSpPr/>
          <p:nvPr/>
        </p:nvSpPr>
        <p:spPr>
          <a:xfrm>
            <a:off x="8207045" y="3913632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0" name="Text 57"/>
          <p:cNvSpPr txBox="1"/>
          <p:nvPr/>
        </p:nvSpPr>
        <p:spPr>
          <a:xfrm>
            <a:off x="8207045" y="3913632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Автофинансирование спецтехники и мото</a:t>
            </a:r>
            <a:r>
              <a:rPr lang="en-US" sz="95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Требования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61" name="Shape 58"/>
          <p:cNvSpPr/>
          <p:nvPr/>
        </p:nvSpPr>
        <p:spPr>
          <a:xfrm>
            <a:off x="8207045" y="4224528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2" name="Text 59"/>
          <p:cNvSpPr txBox="1"/>
          <p:nvPr/>
        </p:nvSpPr>
        <p:spPr>
          <a:xfrm>
            <a:off x="8207045" y="4224528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Пополнение баланса</a:t>
            </a:r>
            <a:r>
              <a:rPr lang="en-US" sz="95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Требования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63" name="Shape 60"/>
          <p:cNvSpPr/>
          <p:nvPr/>
        </p:nvSpPr>
        <p:spPr>
          <a:xfrm>
            <a:off x="8207045" y="4535424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4" name="Text 61"/>
          <p:cNvSpPr txBox="1"/>
          <p:nvPr/>
        </p:nvSpPr>
        <p:spPr>
          <a:xfrm>
            <a:off x="8207045" y="4535424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Быстрая оплата</a:t>
            </a:r>
            <a:r>
              <a:rPr lang="en-US" sz="95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Требования</a:t>
            </a:r>
            <a:endParaRPr lang="en-US" sz="1400" dirty="0"/>
          </a:p>
        </p:txBody>
      </p:sp>
      <p:sp>
        <p:nvSpPr>
          <p:cNvPr id="65" name="Shape 62"/>
          <p:cNvSpPr/>
          <p:nvPr/>
        </p:nvSpPr>
        <p:spPr>
          <a:xfrm>
            <a:off x="8207045" y="4846320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6" name="Jira feature row 7"/>
          <p:cNvSpPr txBox="1"/>
          <p:nvPr/>
        </p:nvSpPr>
        <p:spPr>
          <a:xfrm>
            <a:off x="8207045" y="4846320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AI-поиск на бэке</a:t>
            </a:r>
            <a:r>
              <a:rPr lang="en-US" sz="95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Требования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126" name="Shape 52"/>
          <p:cNvSpPr/>
          <p:nvPr/>
        </p:nvSpPr>
        <p:spPr>
          <a:xfrm>
            <a:off x="8207045" y="5157216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7" name="Jira feature row 8"/>
          <p:cNvSpPr txBox="1"/>
          <p:nvPr/>
        </p:nvSpPr>
        <p:spPr>
          <a:xfrm>
            <a:off x="8207045" y="5157216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Условия полиса до оформления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Требования</a:t>
            </a:r>
            <a:endParaRPr lang="en-US" sz="1400" dirty="0"/>
          </a:p>
        </p:txBody>
      </p:sp>
      <p:sp>
        <p:nvSpPr>
          <p:cNvPr id="127" name="Shape 52"/>
          <p:cNvSpPr/>
          <p:nvPr/>
        </p:nvSpPr>
        <p:spPr>
          <a:xfrm>
            <a:off x="8207045" y="5468112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8" name="Jira feature row 9"/>
          <p:cNvSpPr txBox="1"/>
          <p:nvPr/>
        </p:nvSpPr>
        <p:spPr>
          <a:xfrm>
            <a:off x="8207045" y="5468112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Отключение функций истёкшего тарифа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Требования</a:t>
            </a:r>
            <a:endParaRPr lang="en-US" sz="1400" dirty="0"/>
          </a:p>
        </p:txBody>
      </p:sp>
      <p:sp>
        <p:nvSpPr>
          <p:cNvPr id="128" name="Shape 52"/>
          <p:cNvSpPr/>
          <p:nvPr/>
        </p:nvSpPr>
        <p:spPr>
          <a:xfrm>
            <a:off x="8207045" y="5779008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9" name="Jira feature row 10"/>
          <p:cNvSpPr txBox="1"/>
          <p:nvPr/>
        </p:nvSpPr>
        <p:spPr>
          <a:xfrm>
            <a:off x="8207045" y="5779008"/>
            <a:ext cx="332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Кнопка «Выйти» в настройках</a:t>
            </a: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Бэклог дизайна</a:t>
            </a:r>
            <a:endParaRPr lang="en-US" sz="1400" dirty="0"/>
          </a:p>
        </p:txBody>
      </p:sp>
      <p:sp>
        <p:nvSpPr>
          <p:cNvPr id="129" name="Shape 52"/>
          <p:cNvSpPr/>
          <p:nvPr/>
        </p:nvSpPr>
        <p:spPr>
          <a:xfrm>
            <a:off x="8207045" y="6089904"/>
            <a:ext cx="3326282" cy="0"/>
          </a:xfrm>
          <a:prstGeom prst="line">
            <a:avLst/>
          </a:prstGeom>
          <a:noFill/>
          <a:ln w="635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938528" cy="29260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Ключевые фичи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Гараж: три этапа, детали Этапа 1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08.10–21.10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спринт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63392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 txBox="1"/>
          <p:nvPr/>
        </p:nvSpPr>
        <p:spPr>
          <a:xfrm>
            <a:off x="3500552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F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1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MVP без интеграций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8144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FFF2E6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 txBox="1"/>
          <p:nvPr/>
        </p:nvSpPr>
        <p:spPr>
          <a:xfrm>
            <a:off x="6315304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B86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2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штрафы и страховка, упирается в ГРС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992895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 txBox="1"/>
          <p:nvPr/>
        </p:nvSpPr>
        <p:spPr>
          <a:xfrm>
            <a:off x="9130055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3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развитие, конец ноября и дальше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2542032"/>
            <a:ext cx="3545738" cy="365760"/>
          </a:xfrm>
          <a:prstGeom prst="roundRect">
            <a:avLst>
              <a:gd name="adj" fmla="val 20000"/>
            </a:avLst>
          </a:prstGeom>
          <a:solidFill>
            <a:srgbClr val="2F8A62"/>
          </a:solidFill>
          <a:ln w="12700">
            <a:solidFill>
              <a:srgbClr val="2F8A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 txBox="1"/>
          <p:nvPr/>
        </p:nvSpPr>
        <p:spPr>
          <a:xfrm>
            <a:off x="685800" y="2542032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1 — что входит  5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980944"/>
            <a:ext cx="3545738" cy="588874"/>
          </a:xfrm>
          <a:prstGeom prst="roundRect">
            <a:avLst>
              <a:gd name="adj" fmla="val 12422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 txBox="1"/>
          <p:nvPr/>
        </p:nvSpPr>
        <p:spPr>
          <a:xfrm>
            <a:off x="676656" y="3035808"/>
            <a:ext cx="3289706" cy="4791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Размещение авто вручную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Марка, модель, год, комплектация, госномер, цвет, салон, VIN. Несколько авто с переключением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3642970"/>
            <a:ext cx="3545738" cy="588874"/>
          </a:xfrm>
          <a:prstGeom prst="roundRect">
            <a:avLst>
              <a:gd name="adj" fmla="val 12422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 txBox="1"/>
          <p:nvPr/>
        </p:nvSpPr>
        <p:spPr>
          <a:xfrm>
            <a:off x="676656" y="3697834"/>
            <a:ext cx="3289706" cy="4791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Пробег и техобслуживание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Пробег вводит пользователь, записи о ТО ведёт сам: дата, работы, пробег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4304995"/>
            <a:ext cx="3545738" cy="588874"/>
          </a:xfrm>
          <a:prstGeom prst="roundRect">
            <a:avLst>
              <a:gd name="adj" fmla="val 12422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8"/>
          <p:cNvSpPr txBox="1"/>
          <p:nvPr/>
        </p:nvSpPr>
        <p:spPr>
          <a:xfrm>
            <a:off x="676656" y="4359859"/>
            <a:ext cx="3289706" cy="4791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 и страховка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Витрина предодобренного кредита и вход в заявку; оформление и оплата ОСАГО, тонировка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4967021"/>
            <a:ext cx="3545738" cy="588874"/>
          </a:xfrm>
          <a:prstGeom prst="roundRect">
            <a:avLst>
              <a:gd name="adj" fmla="val 12422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0"/>
          <p:cNvSpPr txBox="1"/>
          <p:nvPr/>
        </p:nvSpPr>
        <p:spPr>
          <a:xfrm>
            <a:off x="676656" y="5021885"/>
            <a:ext cx="3289706" cy="4791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стоимости и продажа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Рыночная оценка на своих данных; продажа из гаража закрывает ~70% формы объявления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48640" y="5629046"/>
            <a:ext cx="3545738" cy="588874"/>
          </a:xfrm>
          <a:prstGeom prst="roundRect">
            <a:avLst>
              <a:gd name="adj" fmla="val 12422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2"/>
          <p:cNvSpPr txBox="1"/>
          <p:nvPr/>
        </p:nvSpPr>
        <p:spPr>
          <a:xfrm>
            <a:off x="676656" y="5683910"/>
            <a:ext cx="3289706" cy="4791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Отчёты и полезные сервисы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Покупка отчёта по авто из гаража, сервисы собраны вокруг конкретной машины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322978" y="2542032"/>
            <a:ext cx="3545738" cy="365760"/>
          </a:xfrm>
          <a:prstGeom prst="roundRect">
            <a:avLst>
              <a:gd name="adj" fmla="val 20000"/>
            </a:avLst>
          </a:prstGeom>
          <a:solidFill>
            <a:srgbClr val="B8661A"/>
          </a:solidFill>
          <a:ln w="12700">
            <a:solidFill>
              <a:srgbClr val="B8661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4"/>
          <p:cNvSpPr txBox="1"/>
          <p:nvPr/>
        </p:nvSpPr>
        <p:spPr>
          <a:xfrm>
            <a:off x="4460138" y="2542032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2 — интеграции  4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322978" y="2980944"/>
            <a:ext cx="3545738" cy="754380"/>
          </a:xfrm>
          <a:prstGeom prst="roundRect">
            <a:avLst>
              <a:gd name="adj" fmla="val 9697"/>
            </a:avLst>
          </a:prstGeom>
          <a:solidFill>
            <a:srgbClr val="FFF2E6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6"/>
          <p:cNvSpPr txBox="1"/>
          <p:nvPr/>
        </p:nvSpPr>
        <p:spPr>
          <a:xfrm>
            <a:off x="4450994" y="3035808"/>
            <a:ext cx="328970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Оплата штрафов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Камеры и выписанные вручную: сумма, дата, статус, оплата в контуре МБанка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4322978" y="3808476"/>
            <a:ext cx="3545738" cy="754380"/>
          </a:xfrm>
          <a:prstGeom prst="roundRect">
            <a:avLst>
              <a:gd name="adj" fmla="val 9697"/>
            </a:avLst>
          </a:prstGeom>
          <a:solidFill>
            <a:srgbClr val="FFF2E6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8"/>
          <p:cNvSpPr txBox="1"/>
          <p:nvPr/>
        </p:nvSpPr>
        <p:spPr>
          <a:xfrm>
            <a:off x="4450994" y="3863340"/>
            <a:ext cx="328970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Страхование целиком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ОСАГО, ОСГОП, КАСКО: статус полиса по авто, оформление и продление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322978" y="4636008"/>
            <a:ext cx="3545738" cy="754380"/>
          </a:xfrm>
          <a:prstGeom prst="roundRect">
            <a:avLst>
              <a:gd name="adj" fmla="val 9697"/>
            </a:avLst>
          </a:prstGeom>
          <a:solidFill>
            <a:srgbClr val="FFF2E6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0"/>
          <p:cNvSpPr txBox="1"/>
          <p:nvPr/>
        </p:nvSpPr>
        <p:spPr>
          <a:xfrm>
            <a:off x="4450994" y="4690872"/>
            <a:ext cx="328970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Сервисы вокруг владения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Покупка номеров, эвакуатор, запись на ремонт, переоформление, налоги, мой журнал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322978" y="5463540"/>
            <a:ext cx="3545738" cy="754380"/>
          </a:xfrm>
          <a:prstGeom prst="roundRect">
            <a:avLst>
              <a:gd name="adj" fmla="val 9697"/>
            </a:avLst>
          </a:prstGeom>
          <a:solidFill>
            <a:srgbClr val="FFF2E6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Text 32"/>
          <p:cNvSpPr txBox="1"/>
          <p:nvPr/>
        </p:nvSpPr>
        <p:spPr>
          <a:xfrm>
            <a:off x="4450994" y="5518404"/>
            <a:ext cx="328970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Развилка по интеграции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МБанк быстрее, напрямую с ГРС — больше данных; оценка «неделя» не проверена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8097317" y="2542032"/>
            <a:ext cx="3545738" cy="365760"/>
          </a:xfrm>
          <a:prstGeom prst="roundRect">
            <a:avLst>
              <a:gd name="adj" fmla="val 20000"/>
            </a:avLst>
          </a:prstGeom>
          <a:solidFill>
            <a:srgbClr val="315BA8"/>
          </a:solidFill>
          <a:ln w="12700">
            <a:solidFill>
              <a:srgbClr val="315BA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7" name="Text 34"/>
          <p:cNvSpPr txBox="1"/>
          <p:nvPr/>
        </p:nvSpPr>
        <p:spPr>
          <a:xfrm>
            <a:off x="8234477" y="2542032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3 — развитие  4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8097317" y="2980944"/>
            <a:ext cx="3545738" cy="754380"/>
          </a:xfrm>
          <a:prstGeom prst="roundRect">
            <a:avLst>
              <a:gd name="adj" fmla="val 9697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Text 36"/>
          <p:cNvSpPr txBox="1"/>
          <p:nvPr/>
        </p:nvSpPr>
        <p:spPr>
          <a:xfrm>
            <a:off x="8225333" y="3035808"/>
            <a:ext cx="328970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Trade-in и продажа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Плюс регулярные работы: замена масла, замена резины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8097317" y="3808476"/>
            <a:ext cx="3545738" cy="754380"/>
          </a:xfrm>
          <a:prstGeom prst="roundRect">
            <a:avLst>
              <a:gd name="adj" fmla="val 9697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1" name="Text 38"/>
          <p:cNvSpPr txBox="1"/>
          <p:nvPr/>
        </p:nvSpPr>
        <p:spPr>
          <a:xfrm>
            <a:off x="8225333" y="3863340"/>
            <a:ext cx="328970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Автоподтяг данных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Пробег из техосмотра; реальные данные по автокредиту — остаток, платёж, досрочное погашение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8097317" y="4636008"/>
            <a:ext cx="3545738" cy="754380"/>
          </a:xfrm>
          <a:prstGeom prst="roundRect">
            <a:avLst>
              <a:gd name="adj" fmla="val 9697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3" name="Text 40"/>
          <p:cNvSpPr txBox="1"/>
          <p:nvPr/>
        </p:nvSpPr>
        <p:spPr>
          <a:xfrm>
            <a:off x="8225333" y="4690872"/>
            <a:ext cx="328970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 и проверки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 ТС, разрешение на тонировку, техосмотр, CarCheck, проверка ВУ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8097317" y="5463540"/>
            <a:ext cx="3545738" cy="754380"/>
          </a:xfrm>
          <a:prstGeom prst="roundRect">
            <a:avLst>
              <a:gd name="adj" fmla="val 9697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5" name="Text 42"/>
          <p:cNvSpPr txBox="1"/>
          <p:nvPr/>
        </p:nvSpPr>
        <p:spPr>
          <a:xfrm>
            <a:off x="8225333" y="5518404"/>
            <a:ext cx="328970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Партнёрские предложения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Скидки партнёров и расширенная проверка на отчётах; социальный слой — не приоритет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938528" cy="29260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Ключевые фичи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 жизни объявления и 50% за первое продление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08.10–21.10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спринт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63392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 txBox="1"/>
          <p:nvPr/>
        </p:nvSpPr>
        <p:spPr>
          <a:xfrm>
            <a:off x="3500552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F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дней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срок жизни объявления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8144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 txBox="1"/>
          <p:nvPr/>
        </p:nvSpPr>
        <p:spPr>
          <a:xfrm>
            <a:off x="6315304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бесплатное объявление в каждой из 3 групп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992895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 txBox="1"/>
          <p:nvPr/>
        </p:nvSpPr>
        <p:spPr>
          <a:xfrm>
            <a:off x="9130055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F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кешбэк за первое платное продление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2542032"/>
            <a:ext cx="5432908" cy="365760"/>
          </a:xfrm>
          <a:prstGeom prst="roundRect">
            <a:avLst>
              <a:gd name="adj" fmla="val 20000"/>
            </a:avLst>
          </a:prstGeom>
          <a:solidFill>
            <a:srgbClr val="C84D4D"/>
          </a:solidFill>
          <a:ln w="12700">
            <a:solidFill>
              <a:srgbClr val="C84D4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 txBox="1"/>
          <p:nvPr/>
        </p:nvSpPr>
        <p:spPr>
          <a:xfrm>
            <a:off x="685800" y="2542032"/>
            <a:ext cx="5158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сейчас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980944"/>
            <a:ext cx="5432908" cy="754380"/>
          </a:xfrm>
          <a:prstGeom prst="roundRect">
            <a:avLst>
              <a:gd name="adj" fmla="val 9697"/>
            </a:avLst>
          </a:prstGeom>
          <a:solidFill>
            <a:srgbClr val="FCEDED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 txBox="1"/>
          <p:nvPr/>
        </p:nvSpPr>
        <p:spPr>
          <a:xfrm>
            <a:off x="676656" y="3035808"/>
            <a:ext cx="51768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Объявление живёт вечно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Даты окончания нет: «Поднять» или редактирование держат его в выдаче бесконечно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3808476"/>
            <a:ext cx="5432908" cy="754380"/>
          </a:xfrm>
          <a:prstGeom prst="roundRect">
            <a:avLst>
              <a:gd name="adj" fmla="val 9697"/>
            </a:avLst>
          </a:prstGeom>
          <a:solidFill>
            <a:srgbClr val="FCEDED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 txBox="1"/>
          <p:nvPr/>
        </p:nvSpPr>
        <p:spPr>
          <a:xfrm>
            <a:off x="676656" y="3863340"/>
            <a:ext cx="51768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выдаче копятся проданные машины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 выдачи никто не проверяет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4636008"/>
            <a:ext cx="5432908" cy="754380"/>
          </a:xfrm>
          <a:prstGeom prst="roundRect">
            <a:avLst>
              <a:gd name="adj" fmla="val 9697"/>
            </a:avLst>
          </a:prstGeom>
          <a:solidFill>
            <a:srgbClr val="FCEDED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8"/>
          <p:cNvSpPr txBox="1"/>
          <p:nvPr/>
        </p:nvSpPr>
        <p:spPr>
          <a:xfrm>
            <a:off x="676656" y="4690872"/>
            <a:ext cx="51768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причин платить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Объявление и так висит, продлевать его не нужно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5463540"/>
            <a:ext cx="5432908" cy="754380"/>
          </a:xfrm>
          <a:prstGeom prst="roundRect">
            <a:avLst>
              <a:gd name="adj" fmla="val 9697"/>
            </a:avLst>
          </a:prstGeom>
          <a:solidFill>
            <a:srgbClr val="FCEDED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0"/>
          <p:cNvSpPr txBox="1"/>
          <p:nvPr/>
        </p:nvSpPr>
        <p:spPr>
          <a:xfrm>
            <a:off x="676656" y="5518404"/>
            <a:ext cx="51768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Уведомлений о сроке нет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маркетинговые кампании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210148" y="2542032"/>
            <a:ext cx="5432908" cy="365760"/>
          </a:xfrm>
          <a:prstGeom prst="roundRect">
            <a:avLst>
              <a:gd name="adj" fmla="val 20000"/>
            </a:avLst>
          </a:prstGeom>
          <a:solidFill>
            <a:srgbClr val="2F8A62"/>
          </a:solidFill>
          <a:ln w="12700">
            <a:solidFill>
              <a:srgbClr val="2F8A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2"/>
          <p:cNvSpPr txBox="1"/>
          <p:nvPr/>
        </p:nvSpPr>
        <p:spPr>
          <a:xfrm>
            <a:off x="6347308" y="2542032"/>
            <a:ext cx="5158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будет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210148" y="2980944"/>
            <a:ext cx="5432908" cy="754380"/>
          </a:xfrm>
          <a:prstGeom prst="roundRect">
            <a:avLst>
              <a:gd name="adj" fmla="val 9697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4"/>
          <p:cNvSpPr txBox="1"/>
          <p:nvPr/>
        </p:nvSpPr>
        <p:spPr>
          <a:xfrm>
            <a:off x="6338164" y="3035808"/>
            <a:ext cx="51768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дней со дня публикации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Продление до снятия даёт +30 дней к дате окончания, оплаченные дни не сгорают. Промо и редактирование срок не меняют. Дилер живёт по подписке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210148" y="3808476"/>
            <a:ext cx="5432908" cy="754380"/>
          </a:xfrm>
          <a:prstGeom prst="roundRect">
            <a:avLst>
              <a:gd name="adj" fmla="val 9697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6"/>
          <p:cNvSpPr txBox="1"/>
          <p:nvPr/>
        </p:nvSpPr>
        <p:spPr>
          <a:xfrm>
            <a:off x="6338164" y="3863340"/>
            <a:ext cx="51768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Кнопки разделены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«Поднять» — вход в платное продвижение с Auto up на 3 дня; «Продлить» появляется с 27-го дня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210148" y="4636008"/>
            <a:ext cx="5432908" cy="754380"/>
          </a:xfrm>
          <a:prstGeom prst="roundRect">
            <a:avLst>
              <a:gd name="adj" fmla="val 9697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8"/>
          <p:cNvSpPr txBox="1"/>
          <p:nvPr/>
        </p:nvSpPr>
        <p:spPr>
          <a:xfrm>
            <a:off x="6338164" y="4690872"/>
            <a:ext cx="51768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 бесплатное место в группе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Транспорт, услуги, запчасти — по одному. Место занято — продление по цене публикации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210148" y="5463540"/>
            <a:ext cx="5432908" cy="754380"/>
          </a:xfrm>
          <a:prstGeom prst="roundRect">
            <a:avLst>
              <a:gd name="adj" fmla="val 9697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0"/>
          <p:cNvSpPr txBox="1"/>
          <p:nvPr/>
        </p:nvSpPr>
        <p:spPr>
          <a:xfrm>
            <a:off x="6338164" y="5518404"/>
            <a:ext cx="51768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Кешбэк 50% за первое платное продление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Возвращаем бонусами, один раз на пользователя. Автопродление списывает на 27-й день, при неудаче ещё две попытки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938528" cy="29260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Ключевые фичи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 жизни объявления: ожидаемое изменение показателей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217920" cy="430940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35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Показатель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Сейчас, 1–28.09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Станет за месяц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Изменение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4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Выручка, сом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8 677 521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+100–220 тыс.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Пополнения, сом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5 019 126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+120–240 тыс.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Средний депозит, сом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1 199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1 130–1 160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B86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Пополняющие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4 188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+200–400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Регистрация → пополнение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10,8–11,5%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 п.п.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Регистраций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15 708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без изменений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315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MPAU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6 796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+500–1 000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Удержание пополняющих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21–22,3%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 п.п.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Платящие дилеры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+5–15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Выручка на дилера, сом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5 279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4 720–5 060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B86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Новых объявлений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21 783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−3…0%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B866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35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Вернувшиеся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432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1 622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+80–120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2F8A6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Shape 3">
            <a:hlinkClick r:id="rId3" action="ppaction://hlinksldjump" tooltip="«Срок жизни объявления: влияние на показатели месяца» от 29.09.2026&#10;Расчёт: +1,2…+2,7%: Auto up 50–95 тыс., лимит одного бесплатного 40–75 тыс., продления 25–40 тыс."/>
          </p:cNvPr>
          <p:cNvSpPr/>
          <p:nvPr/>
        </p:nvSpPr>
        <p:spPr>
          <a:xfrm>
            <a:off x="548640" y="1923757"/>
            <a:ext cx="6217920" cy="3235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Shape 4">
            <a:hlinkClick r:id="rId3" action="ppaction://hlinksldjump" tooltip="«Срок жизни объявления: влияние на показатели месяца» от 29.09.2026&#10;Расчёт: +2,5…+5%: новые пополняющие кладут на баланс больше, чем тратят"/>
          </p:cNvPr>
          <p:cNvSpPr/>
          <p:nvPr/>
        </p:nvSpPr>
        <p:spPr>
          <a:xfrm>
            <a:off x="548640" y="2247314"/>
            <a:ext cx="6217920" cy="3235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5">
            <a:hlinkClick r:id="rId3" action="ppaction://hlinksldjump" tooltip="«Срок жизни объявления: влияние на показатели месяца» от 29.09.2026&#10;Расчёт: −2…−4%: приходят люди с платежами 20–120 сом, число пополняющих растёт быстрее суммы"/>
          </p:cNvPr>
          <p:cNvSpPr/>
          <p:nvPr/>
        </p:nvSpPr>
        <p:spPr>
          <a:xfrm>
            <a:off x="548640" y="2570871"/>
            <a:ext cx="6217920" cy="3235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6">
            <a:hlinkClick r:id="rId3" action="ppaction://hlinksldjump" tooltip="«Срок жизни объявления: влияние на показатели месяца» от 29.09.2026&#10;Расчёт: +5…+10%: из 600–1 100 новых платящих пополнят баланс около половины"/>
          </p:cNvPr>
          <p:cNvSpPr/>
          <p:nvPr/>
        </p:nvSpPr>
        <p:spPr>
          <a:xfrm>
            <a:off x="548640" y="2894428"/>
            <a:ext cx="6217920" cy="3235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7">
            <a:hlinkClick r:id="rId3" action="ppaction://hlinksldjump" tooltip="«Срок жизни объявления: влияние на показатели месяца» от 29.09.2026&#10;Расчёт: числитель +100–200 человек, знаменатель не меняется: (1 519 + 100…200) / 15 002"/>
          </p:cNvPr>
          <p:cNvSpPr/>
          <p:nvPr/>
        </p:nvSpPr>
        <p:spPr>
          <a:xfrm>
            <a:off x="548640" y="3217985"/>
            <a:ext cx="6217920" cy="3235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8">
            <a:hlinkClick r:id="rId3" action="ppaction://hlinksldjump" tooltip="«Срок жизни объявления: влияние на показатели месяца» от 29.09.2026&#10;Расчёт: фича работает только с теми, у кого уже есть объявление и аккаунт"/>
          </p:cNvPr>
          <p:cNvSpPr/>
          <p:nvPr/>
        </p:nvSpPr>
        <p:spPr>
          <a:xfrm>
            <a:off x="548640" y="3541542"/>
            <a:ext cx="6217920" cy="3235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9">
            <a:hlinkClick r:id="rId3" action="ppaction://hlinksldjump" tooltip="«Срок жизни объявления: влияние на показатели месяца» от 29.09.2026&#10;Расчёт: +8…+15%: сюда попадают и те, кто платит с промо-баланса и бонусов без пополнения"/>
          </p:cNvPr>
          <p:cNvSpPr/>
          <p:nvPr/>
        </p:nvSpPr>
        <p:spPr>
          <a:xfrm>
            <a:off x="548640" y="3865098"/>
            <a:ext cx="6217920" cy="3235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10">
            <a:hlinkClick r:id="rId3" action="ppaction://hlinksldjump" tooltip="«Срок жизни объявления: влияние на показатели месяца» от 29.09.2026&#10;Расчёт: продление повторяется каждые 30 дней; минус — частник продал машину и перестал платить"/>
          </p:cNvPr>
          <p:cNvSpPr/>
          <p:nvPr/>
        </p:nvSpPr>
        <p:spPr>
          <a:xfrm>
            <a:off x="548640" y="4188655"/>
            <a:ext cx="6217920" cy="3235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1">
            <a:hlinkClick r:id="rId3" action="ppaction://hlinksldjump" tooltip="«Срок жизни объявления: влияние на показатели месяца» от 29.09.2026&#10;Расчёт: +4…+12%: частникам с несколькими объявлениями выгоднее тариф «Актив» за 531 сом"/>
          </p:cNvPr>
          <p:cNvSpPr/>
          <p:nvPr/>
        </p:nvSpPr>
        <p:spPr>
          <a:xfrm>
            <a:off x="548640" y="4512212"/>
            <a:ext cx="6217920" cy="3235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2">
            <a:hlinkClick r:id="rId3" action="ppaction://hlinksldjump" tooltip="«Срок жизни объявления: влияние на показатели месяца» от 29.09.2026&#10;Расчёт: −4…−10%: новые дилеры приходят на самый дешёвый тариф"/>
          </p:cNvPr>
          <p:cNvSpPr/>
          <p:nvPr/>
        </p:nvSpPr>
        <p:spPr>
          <a:xfrm>
            <a:off x="548640" y="4835769"/>
            <a:ext cx="6217920" cy="3235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3">
            <a:hlinkClick r:id="rId3" action="ppaction://hlinksldjump" tooltip="«Срок жизни объявления: влияние на показатели месяца» от 29.09.2026&#10;Расчёт: весь транспорт делит одно бесплатное место; вверх тянет повторная публикация истёкших"/>
          </p:cNvPr>
          <p:cNvSpPr/>
          <p:nvPr/>
        </p:nvSpPr>
        <p:spPr>
          <a:xfrm>
            <a:off x="548640" y="5159326"/>
            <a:ext cx="6217920" cy="3235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Shape 14">
            <a:hlinkClick r:id="rId3" action="ppaction://hlinksldjump" tooltip="«Срок жизни объявления: влияние на показатели месяца» от 29.09.2026&#10;Расчёт: +5…+8%: напоминания о сроке находят тех, кто платил давно и выпал"/>
          </p:cNvPr>
          <p:cNvSpPr/>
          <p:nvPr/>
        </p:nvSpPr>
        <p:spPr>
          <a:xfrm>
            <a:off x="548640" y="5482883"/>
            <a:ext cx="6217920" cy="32355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5"/>
          <p:cNvSpPr txBox="1"/>
          <p:nvPr/>
        </p:nvSpPr>
        <p:spPr>
          <a:xfrm>
            <a:off x="7040880" y="1600200"/>
            <a:ext cx="4602175" cy="323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Изменение к текущему уровню, %</a:t>
            </a:r>
            <a:endParaRPr lang="en-US" sz="11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7040880" y="1923757"/>
          <a:ext cx="4602175" cy="41935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938528" cy="29260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Ключевые фичи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Переработка системы бонусов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21.10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план релиза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63392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FCEDED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 txBox="1"/>
          <p:nvPr/>
        </p:nvSpPr>
        <p:spPr>
          <a:xfrm>
            <a:off x="3500552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8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891 621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не потрачено на 16.09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8144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 txBox="1"/>
          <p:nvPr/>
        </p:nvSpPr>
        <p:spPr>
          <a:xfrm>
            <a:off x="6315304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F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новый лимит оплаты бонусами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992895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 txBox="1"/>
          <p:nvPr/>
        </p:nvSpPr>
        <p:spPr>
          <a:xfrm>
            <a:off x="9130055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F8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мес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срок жизни начисления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2542032"/>
            <a:ext cx="5432908" cy="365760"/>
          </a:xfrm>
          <a:prstGeom prst="roundRect">
            <a:avLst>
              <a:gd name="adj" fmla="val 20000"/>
            </a:avLst>
          </a:prstGeom>
          <a:solidFill>
            <a:srgbClr val="C84D4D"/>
          </a:solidFill>
          <a:ln w="12700">
            <a:solidFill>
              <a:srgbClr val="C84D4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 txBox="1"/>
          <p:nvPr/>
        </p:nvSpPr>
        <p:spPr>
          <a:xfrm>
            <a:off x="685800" y="2542032"/>
            <a:ext cx="5158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сейчас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980944"/>
            <a:ext cx="5432908" cy="754380"/>
          </a:xfrm>
          <a:prstGeom prst="roundRect">
            <a:avLst>
              <a:gd name="adj" fmla="val 9697"/>
            </a:avLst>
          </a:prstGeom>
          <a:solidFill>
            <a:srgbClr val="FCEDED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 txBox="1"/>
          <p:nvPr/>
        </p:nvSpPr>
        <p:spPr>
          <a:xfrm>
            <a:off x="676656" y="3035808"/>
            <a:ext cx="51768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Тратятся только на продвижение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Кэшбек 100% за бизнес-тарифы и 22% за ОСАГО приходит всем, а потратить можно лишь на продвижение объявления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3808476"/>
            <a:ext cx="5432908" cy="754380"/>
          </a:xfrm>
          <a:prstGeom prst="roundRect">
            <a:avLst>
              <a:gd name="adj" fmla="val 9697"/>
            </a:avLst>
          </a:prstGeom>
          <a:solidFill>
            <a:srgbClr val="FCEDED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 txBox="1"/>
          <p:nvPr/>
        </p:nvSpPr>
        <p:spPr>
          <a:xfrm>
            <a:off x="676656" y="3863340"/>
            <a:ext cx="51768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Срока жизни нет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1 299 163 бонусов за тарифы на 16.09 не потрачено 891 621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4636008"/>
            <a:ext cx="5432908" cy="754380"/>
          </a:xfrm>
          <a:prstGeom prst="roundRect">
            <a:avLst>
              <a:gd name="adj" fmla="val 9697"/>
            </a:avLst>
          </a:prstGeom>
          <a:solidFill>
            <a:srgbClr val="FCEDED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8"/>
          <p:cNvSpPr txBox="1"/>
          <p:nvPr/>
        </p:nvSpPr>
        <p:spPr>
          <a:xfrm>
            <a:off x="676656" y="4690872"/>
            <a:ext cx="51768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Покупателю бонус бесполезен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Получил кэшбек за ОСАГО, но продвижение ему не нужно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5463540"/>
            <a:ext cx="5432908" cy="754380"/>
          </a:xfrm>
          <a:prstGeom prst="roundRect">
            <a:avLst>
              <a:gd name="adj" fmla="val 9697"/>
            </a:avLst>
          </a:prstGeom>
          <a:solidFill>
            <a:srgbClr val="FCEDED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0"/>
          <p:cNvSpPr txBox="1"/>
          <p:nvPr/>
        </p:nvSpPr>
        <p:spPr>
          <a:xfrm>
            <a:off x="676656" y="5518404"/>
            <a:ext cx="51768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учёта в разметке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видно, какая часть покупки оплачена бонусами, а какая сомами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210148" y="2542032"/>
            <a:ext cx="5432908" cy="365760"/>
          </a:xfrm>
          <a:prstGeom prst="roundRect">
            <a:avLst>
              <a:gd name="adj" fmla="val 20000"/>
            </a:avLst>
          </a:prstGeom>
          <a:solidFill>
            <a:srgbClr val="2F8A62"/>
          </a:solidFill>
          <a:ln w="12700">
            <a:solidFill>
              <a:srgbClr val="2F8A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2"/>
          <p:cNvSpPr txBox="1"/>
          <p:nvPr/>
        </p:nvSpPr>
        <p:spPr>
          <a:xfrm>
            <a:off x="6347308" y="2542032"/>
            <a:ext cx="5158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будет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210148" y="2980944"/>
            <a:ext cx="5432908" cy="754380"/>
          </a:xfrm>
          <a:prstGeom prst="roundRect">
            <a:avLst>
              <a:gd name="adj" fmla="val 9697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4"/>
          <p:cNvSpPr txBox="1"/>
          <p:nvPr/>
        </p:nvSpPr>
        <p:spPr>
          <a:xfrm>
            <a:off x="6338164" y="3035808"/>
            <a:ext cx="51768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Бонусами платим </a:t>
            </a:r>
            <a:r>
              <a:rPr lang="en-US" sz="1200" b="1" dirty="0" err="1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</a:t>
            </a: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</a:t>
            </a: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</a:t>
            </a:r>
            <a:r>
              <a:rPr lang="ru-RU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ы</a:t>
            </a: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услуг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Продвижение, Stories + Пост, подарок промо, публикация, тарифы Active–Maximum. Не принимают: пополнение, отчёты, ОСАГО, кредит, лизинг, рекламный охват Instagram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210148" y="3808476"/>
            <a:ext cx="5432908" cy="754380"/>
          </a:xfrm>
          <a:prstGeom prst="roundRect">
            <a:avLst>
              <a:gd name="adj" fmla="val 9697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6"/>
          <p:cNvSpPr txBox="1"/>
          <p:nvPr/>
        </p:nvSpPr>
        <p:spPr>
          <a:xfrm>
            <a:off x="6338164" y="3863340"/>
            <a:ext cx="51768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ru-RU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оплатить 10</a:t>
            </a: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Лимит меняется в админке для всех услуг или отдельно для каждой. Журнал изменений хранится 12 месяцев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210148" y="4636008"/>
            <a:ext cx="5432908" cy="754380"/>
          </a:xfrm>
          <a:prstGeom prst="roundRect">
            <a:avLst>
              <a:gd name="adj" fmla="val 9697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8"/>
          <p:cNvSpPr txBox="1"/>
          <p:nvPr/>
        </p:nvSpPr>
        <p:spPr>
          <a:xfrm>
            <a:off x="6338164" y="4690872"/>
            <a:ext cx="51768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Начисление сгорает </a:t>
            </a:r>
            <a:r>
              <a:rPr lang="en-US" sz="1200" b="1" dirty="0" err="1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</a:t>
            </a: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месяц</a:t>
            </a:r>
            <a:r>
              <a:rPr lang="ru-RU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по стандарту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Пуш за месяц и за 3 дня, списание с ближайшего к сгоранию начисления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210148" y="5463540"/>
            <a:ext cx="5432908" cy="754380"/>
          </a:xfrm>
          <a:prstGeom prst="roundRect">
            <a:avLst>
              <a:gd name="adj" fmla="val 9697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0"/>
          <p:cNvSpPr txBox="1"/>
          <p:nvPr/>
        </p:nvSpPr>
        <p:spPr>
          <a:xfrm>
            <a:off x="6338164" y="5518404"/>
            <a:ext cx="5176876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Кэшбек только с суммы в сомах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Тариф 9 000 сом, оплаченный 3 000 бонусов и 6 000 сом, даёт 6 000 бонусов, а не 9 000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1362456" cy="29260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12700">
            <a:solidFill>
              <a:srgbClr val="EAF0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Лизинг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развития лизинга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1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223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заявок партнёрам за 1–27.09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63392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FCEDED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 txBox="1"/>
          <p:nvPr/>
        </p:nvSpPr>
        <p:spPr>
          <a:xfrm>
            <a:off x="3500552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8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одобрено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8144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FFF2E6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 txBox="1"/>
          <p:nvPr/>
        </p:nvSpPr>
        <p:spPr>
          <a:xfrm>
            <a:off x="6315304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B86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висят в обработке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992895" y="1783080"/>
            <a:ext cx="2650160" cy="566928"/>
          </a:xfrm>
          <a:prstGeom prst="roundRect">
            <a:avLst>
              <a:gd name="adj" fmla="val 12903"/>
            </a:avLst>
          </a:prstGeom>
          <a:solidFill>
            <a:srgbClr val="FCEDED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 txBox="1"/>
          <p:nvPr/>
        </p:nvSpPr>
        <p:spPr>
          <a:xfrm>
            <a:off x="9130055" y="1783080"/>
            <a:ext cx="237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8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тыс. сом</a:t>
            </a:r>
            <a:r>
              <a:rPr lang="en-US" sz="1100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выручка лизинга за месяц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2542032"/>
            <a:ext cx="3545738" cy="365760"/>
          </a:xfrm>
          <a:prstGeom prst="roundRect">
            <a:avLst>
              <a:gd name="adj" fmla="val 20000"/>
            </a:avLst>
          </a:prstGeom>
          <a:solidFill>
            <a:srgbClr val="2F8A62"/>
          </a:solidFill>
          <a:ln w="12700">
            <a:solidFill>
              <a:srgbClr val="2F8A6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 txBox="1"/>
          <p:nvPr/>
        </p:nvSpPr>
        <p:spPr>
          <a:xfrm>
            <a:off x="685800" y="2542032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Привести аудиторию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980944"/>
            <a:ext cx="3545738" cy="914400"/>
          </a:xfrm>
          <a:prstGeom prst="roundRect">
            <a:avLst>
              <a:gd name="adj" fmla="val 8000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 txBox="1"/>
          <p:nvPr/>
        </p:nvSpPr>
        <p:spPr>
          <a:xfrm>
            <a:off x="676656" y="3035808"/>
            <a:ext cx="328970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Привлечь таксистов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Основная аудитория лизинга у партнёров. Им отказывает банк, а лизингу хватает паспорта и прав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3968496"/>
            <a:ext cx="3545738" cy="914400"/>
          </a:xfrm>
          <a:prstGeom prst="roundRect">
            <a:avLst>
              <a:gd name="adj" fmla="val 8000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 txBox="1"/>
          <p:nvPr/>
        </p:nvSpPr>
        <p:spPr>
          <a:xfrm>
            <a:off x="676656" y="4023360"/>
            <a:ext cx="328970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Фильтр «Доступно в лизинг» на главной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Переключатель в поиске по продукту leasing. В спринте 22.10–04.11, этап QA-анализа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4956048"/>
            <a:ext cx="3545738" cy="914400"/>
          </a:xfrm>
          <a:prstGeom prst="roundRect">
            <a:avLst>
              <a:gd name="adj" fmla="val 8000"/>
            </a:avLst>
          </a:prstGeom>
          <a:solidFill>
            <a:srgbClr val="EAF7F1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8"/>
          <p:cNvSpPr txBox="1"/>
          <p:nvPr/>
        </p:nvSpPr>
        <p:spPr>
          <a:xfrm>
            <a:off x="676656" y="5010912"/>
            <a:ext cx="328970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Аренда авто с CTA на лизинг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раздел аренды, внутри — переход в лизинг с предзаполненным калькулятором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322978" y="2542032"/>
            <a:ext cx="3545738" cy="365760"/>
          </a:xfrm>
          <a:prstGeom prst="roundRect">
            <a:avLst>
              <a:gd name="adj" fmla="val 20000"/>
            </a:avLst>
          </a:prstGeom>
          <a:solidFill>
            <a:srgbClr val="B8661A"/>
          </a:solidFill>
          <a:ln w="12700">
            <a:solidFill>
              <a:srgbClr val="B8661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0"/>
          <p:cNvSpPr txBox="1"/>
          <p:nvPr/>
        </p:nvSpPr>
        <p:spPr>
          <a:xfrm>
            <a:off x="4460138" y="2542032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Разобраться с партнёрами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322978" y="2980944"/>
            <a:ext cx="3545738" cy="914400"/>
          </a:xfrm>
          <a:prstGeom prst="roundRect">
            <a:avLst>
              <a:gd name="adj" fmla="val 8000"/>
            </a:avLst>
          </a:prstGeom>
          <a:solidFill>
            <a:srgbClr val="FFF2E6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2"/>
          <p:cNvSpPr txBox="1"/>
          <p:nvPr/>
        </p:nvSpPr>
        <p:spPr>
          <a:xfrm>
            <a:off x="4450994" y="3035808"/>
            <a:ext cx="328970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Углубиться в процессы партнёров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1–27.09 отдали 223 заявки: MK Leasing 163, Экспресс Лизинг 60. Одобрено 0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322978" y="3968496"/>
            <a:ext cx="3545738" cy="914400"/>
          </a:xfrm>
          <a:prstGeom prst="roundRect">
            <a:avLst>
              <a:gd name="adj" fmla="val 8000"/>
            </a:avLst>
          </a:prstGeom>
          <a:solidFill>
            <a:srgbClr val="FFF2E6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4"/>
          <p:cNvSpPr txBox="1"/>
          <p:nvPr/>
        </p:nvSpPr>
        <p:spPr>
          <a:xfrm>
            <a:off x="4450994" y="4023360"/>
            <a:ext cx="328970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Заявки висят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Экспресс Лизинга 51 из 60 в обработке, решения нет ни по одной. У MK Leasing 102 отказа, 40 в обработке и 20 с ошибкой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322978" y="4956048"/>
            <a:ext cx="3545738" cy="914400"/>
          </a:xfrm>
          <a:prstGeom prst="roundRect">
            <a:avLst>
              <a:gd name="adj" fmla="val 8000"/>
            </a:avLst>
          </a:prstGeom>
          <a:solidFill>
            <a:srgbClr val="FFF2E6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6"/>
          <p:cNvSpPr txBox="1"/>
          <p:nvPr/>
        </p:nvSpPr>
        <p:spPr>
          <a:xfrm>
            <a:off x="4450994" y="5010912"/>
            <a:ext cx="328970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выяснить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нет решений, что считается некачественным лидом, как быстро партнёр обрабатывает заявку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097317" y="2542032"/>
            <a:ext cx="3545738" cy="365760"/>
          </a:xfrm>
          <a:prstGeom prst="roundRect">
            <a:avLst>
              <a:gd name="adj" fmla="val 20000"/>
            </a:avLst>
          </a:prstGeom>
          <a:solidFill>
            <a:srgbClr val="315BA8"/>
          </a:solidFill>
          <a:ln w="12700">
            <a:solidFill>
              <a:srgbClr val="315BA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8"/>
          <p:cNvSpPr txBox="1"/>
          <p:nvPr/>
        </p:nvSpPr>
        <p:spPr>
          <a:xfrm>
            <a:off x="8234477" y="2542032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Ускорить отказников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8097317" y="2980944"/>
            <a:ext cx="3545738" cy="914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0"/>
          <p:cNvSpPr txBox="1"/>
          <p:nvPr/>
        </p:nvSpPr>
        <p:spPr>
          <a:xfrm>
            <a:off x="8225333" y="3035808"/>
            <a:ext cx="328970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Ускорять флоу для отказников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 отказывает примерно 3 200 клиентам в месяц, до лизинга доходят единицы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8097317" y="3968496"/>
            <a:ext cx="3545738" cy="914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Text 32"/>
          <p:cNvSpPr txBox="1"/>
          <p:nvPr/>
        </p:nvSpPr>
        <p:spPr>
          <a:xfrm>
            <a:off x="8225333" y="4023360"/>
            <a:ext cx="328970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уже есть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Залоговый конвейер: на отказе показываем «Это авто можно взять в лизинг», калькулятор предзаполнен из кредитной заявки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8097317" y="4956048"/>
            <a:ext cx="3545738" cy="9144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7" name="Text 34"/>
          <p:cNvSpPr txBox="1"/>
          <p:nvPr/>
        </p:nvSpPr>
        <p:spPr>
          <a:xfrm>
            <a:off x="8225333" y="5010912"/>
            <a:ext cx="328970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243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Чего не хватает</a:t>
            </a:r>
            <a:endParaRPr lang="en-US" sz="14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MBANK не передаёт причину отказа — фильтровать лиды по качеству пока нечем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4682</Words>
  <Application>Microsoft Office PowerPoint</Application>
  <PresentationFormat>Широкоэкранный</PresentationFormat>
  <Paragraphs>408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Mashina.kg</dc:title>
  <dc:subject>PptxGenJS Presentation</dc:subject>
  <dc:creator>PptxGenJS</dc:creator>
  <cp:lastModifiedBy>Олег Исиченко</cp:lastModifiedBy>
  <cp:revision>22</cp:revision>
  <dcterms:created xsi:type="dcterms:W3CDTF">2026-09-30T01:02:38Z</dcterms:created>
  <dcterms:modified xsi:type="dcterms:W3CDTF">2026-09-30T05:02:49Z</dcterms:modified>
</cp:coreProperties>
</file>